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73" r:id="rId2"/>
    <p:sldId id="274" r:id="rId3"/>
    <p:sldId id="275" r:id="rId4"/>
    <p:sldId id="429" r:id="rId5"/>
    <p:sldId id="431" r:id="rId6"/>
    <p:sldId id="432" r:id="rId7"/>
    <p:sldId id="433" r:id="rId8"/>
    <p:sldId id="278" r:id="rId9"/>
    <p:sldId id="434" r:id="rId10"/>
    <p:sldId id="436" r:id="rId11"/>
    <p:sldId id="438" r:id="rId12"/>
    <p:sldId id="450" r:id="rId13"/>
    <p:sldId id="451" r:id="rId14"/>
    <p:sldId id="439" r:id="rId15"/>
    <p:sldId id="440" r:id="rId16"/>
    <p:sldId id="441" r:id="rId17"/>
    <p:sldId id="443" r:id="rId18"/>
    <p:sldId id="282" r:id="rId19"/>
    <p:sldId id="447" r:id="rId20"/>
    <p:sldId id="446" r:id="rId21"/>
    <p:sldId id="287" r:id="rId22"/>
    <p:sldId id="448" r:id="rId23"/>
    <p:sldId id="28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D8EE"/>
    <a:srgbClr val="F2D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 autoAdjust="0"/>
    <p:restoredTop sz="73961" autoAdjust="0"/>
  </p:normalViewPr>
  <p:slideViewPr>
    <p:cSldViewPr snapToGrid="0">
      <p:cViewPr varScale="1">
        <p:scale>
          <a:sx n="91" d="100"/>
          <a:sy n="91" d="100"/>
        </p:scale>
        <p:origin x="1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“Let me start with some background.</a:t>
                </a:r>
                <a:br>
                  <a:rPr lang="en-US" altLang="zh-CN" dirty="0"/>
                </a:br>
                <a:r>
                  <a:rPr lang="en-US" altLang="zh-CN" dirty="0"/>
                  <a:t>In many complex networks, like social or biological networks, one fundamental task is to estimate </a:t>
                </a:r>
                <a:r>
                  <a:rPr lang="en-US" altLang="zh-CN" b="1" dirty="0"/>
                  <a:t>connection probabilities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These edge probabilities form the basis for many downstream tasks such as link prediction, denoising, or data augmentation.</a:t>
                </a:r>
              </a:p>
              <a:p>
                <a:r>
                  <a:rPr lang="en-US" altLang="zh-CN" dirty="0"/>
                  <a:t>To model these probabilities in a flexible way, we use the </a:t>
                </a:r>
                <a:r>
                  <a:rPr lang="en-US" altLang="zh-CN" b="1" dirty="0"/>
                  <a:t>graphon framework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A graphon is simply a symmetric function defined on the unit square. You can think of it like this: each node gets a hidden position sampled uniformly from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[0ⓜ,1]</a:t>
                </a:r>
                <a:r>
                  <a:rPr lang="ar-AE" altLang="zh-CN" dirty="0"/>
                  <a:t>. </a:t>
                </a:r>
                <a:r>
                  <a:rPr lang="en-US" altLang="zh-CN" dirty="0"/>
                  <a:t>Then, the probability of an edge between two nodes depends on applying the graphon function to their hidden positions.</a:t>
                </a:r>
              </a:p>
              <a:p>
                <a:r>
                  <a:rPr lang="en-US" altLang="zh-CN" dirty="0"/>
                  <a:t>So intuitively, a graphon is just a smooth function that encodes the edge probabilities in a network.”</a:t>
                </a: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C91DE-F874-BB89-BBEB-8DB63C96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F0C19D-F545-0D00-A10A-C1EB66284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7F9E7C-3F4D-7F56-5FC2-9D3CF8122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8FBC66-1240-D6D9-6462-E2EF22F2A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819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AD5B3-28D0-8F68-D496-E7804DF7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C26F94-6815-31FF-701D-E0C753EAE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423773-8403-31C3-DCFF-4DF67F72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3F78CD-A899-BE20-F46B-04A7B8C01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214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2576B-92E9-A72A-1A94-C79079ACA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F20E04-6657-B36A-C482-E00D0D17A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377041-2240-50EB-2C4D-21500B745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886CD8-3C94-400A-6B42-717C0245F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87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D56C-712B-5CEC-4BDF-F6455ADA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FAC846-48DC-5BC6-1012-8A6B5F08A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240F992E-F42D-7F5F-00F4-A03B836C98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240F992E-F42D-7F5F-00F4-A03B836C98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“Here is the problem setup.</a:t>
                </a:r>
              </a:p>
              <a:p>
                <a:r>
                  <a:rPr lang="en-US" altLang="zh-CN" dirty="0"/>
                  <a:t>Our goal is to estimate the </a:t>
                </a:r>
                <a:r>
                  <a:rPr lang="en-US" altLang="zh-CN" b="1" dirty="0"/>
                  <a:t>target graphon</a:t>
                </a:r>
                <a:r>
                  <a:rPr lang="en-US" altLang="zh-CN" dirty="0"/>
                  <a:t>, which is the latent probability matrix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𝑃_𝑡</a:t>
                </a:r>
                <a:r>
                  <a:rPr lang="en-US" altLang="zh-CN" dirty="0"/>
                  <a:t>for a small graph.</a:t>
                </a:r>
              </a:p>
              <a:p>
                <a:r>
                  <a:rPr lang="en-US" altLang="zh-CN" dirty="0"/>
                  <a:t>We have two types of data:</a:t>
                </a:r>
              </a:p>
              <a:p>
                <a:r>
                  <a:rPr lang="en-US" altLang="zh-CN" dirty="0"/>
                  <a:t>a </a:t>
                </a:r>
                <a:r>
                  <a:rPr lang="en-US" altLang="zh-CN" b="1" dirty="0"/>
                  <a:t>source graph</a:t>
                </a:r>
                <a:r>
                  <a:rPr lang="en-US" altLang="zh-CN" dirty="0"/>
                  <a:t>, with adjacency matrix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𝐴_𝑠</a:t>
                </a:r>
                <a:r>
                  <a:rPr lang="ar-AE" altLang="zh-CN" dirty="0"/>
                  <a:t>, </a:t>
                </a:r>
                <a:r>
                  <a:rPr lang="en-US" altLang="zh-CN" dirty="0"/>
                  <a:t>which is large,</a:t>
                </a:r>
              </a:p>
              <a:p>
                <a:r>
                  <a:rPr lang="en-US" altLang="zh-CN" dirty="0"/>
                  <a:t>and a </a:t>
                </a:r>
                <a:r>
                  <a:rPr lang="en-US" altLang="zh-CN" b="1" dirty="0"/>
                  <a:t>target graph</a:t>
                </a:r>
                <a:r>
                  <a:rPr lang="en-US" altLang="zh-CN" dirty="0"/>
                  <a:t>, with adjacency matrix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𝐴_𝑡</a:t>
                </a:r>
                <a:r>
                  <a:rPr lang="ar-AE" altLang="zh-CN" dirty="0"/>
                  <a:t>, </a:t>
                </a:r>
                <a:r>
                  <a:rPr lang="en-US" altLang="zh-CN" dirty="0"/>
                  <a:t>which is smaller.</a:t>
                </a:r>
              </a:p>
              <a:p>
                <a:r>
                  <a:rPr lang="en-US" altLang="zh-CN" dirty="0"/>
                  <a:t>Both of these graphs are generated from their own latent graphon functions,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𝑓_𝑠</a:t>
                </a:r>
                <a:r>
                  <a:rPr lang="en-US" altLang="zh-CN" dirty="0"/>
                  <a:t>and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𝑓_𝑡</a:t>
                </a:r>
                <a:r>
                  <a:rPr lang="ar-AE" altLang="zh-CN" dirty="0"/>
                  <a:t>. </a:t>
                </a:r>
                <a:r>
                  <a:rPr lang="en-US" altLang="zh-CN" dirty="0"/>
                  <a:t>Formally, the entries are Bernoulli random variables with probabilities given by these graphons.</a:t>
                </a:r>
              </a:p>
              <a:p>
                <a:r>
                  <a:rPr lang="en-US" altLang="zh-CN" dirty="0"/>
                  <a:t>So the objective is to estimate the target probability matrix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𝑃_𝑡</a:t>
                </a:r>
                <a:r>
                  <a:rPr lang="ar-AE" altLang="zh-CN" dirty="0"/>
                  <a:t>, </a:t>
                </a:r>
                <a:r>
                  <a:rPr lang="en-US" altLang="zh-CN" dirty="0"/>
                  <a:t>not just from the target data alone, but by also leveraging knowledge transferred from the larger source graph.</a:t>
                </a:r>
                <a:br>
                  <a:rPr lang="en-US" altLang="zh-CN" dirty="0"/>
                </a:br>
                <a:r>
                  <a:rPr lang="en-US" altLang="zh-CN" dirty="0"/>
                  <a:t>At the same time, we want to adapt to possible differences between source and target, so that we can avoid negative transfer.”</a:t>
                </a: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4C1344-2F8C-01E9-3B60-0B0551774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897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75C5-0041-06B2-BBF1-688A0EFE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BEF42E-0BE9-A848-222B-30A232D50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E1E571C6-FF0D-D149-6726-2CE35E020FB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E1E571C6-FF0D-D149-6726-2CE35E020FB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“Let me first explain the </a:t>
                </a:r>
                <a:r>
                  <a:rPr lang="en-US" altLang="zh-CN" b="1" dirty="0"/>
                  <a:t>initial estimation step</a:t>
                </a:r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The input here is just the observed adjacency matrices of the source and target networks.</a:t>
                </a:r>
                <a:br>
                  <a:rPr lang="en-US" altLang="zh-CN" dirty="0"/>
                </a:br>
                <a:r>
                  <a:rPr lang="en-US" altLang="zh-CN" dirty="0"/>
                  <a:t>We apply </a:t>
                </a:r>
                <a:r>
                  <a:rPr lang="en-US" altLang="zh-CN" b="1" dirty="0"/>
                  <a:t>Neighborhood Smoothing, </a:t>
                </a:r>
                <a:r>
                  <a:rPr lang="en-US" altLang="zh-CN" b="0" dirty="0"/>
                  <a:t>and this</a:t>
                </a:r>
                <a:r>
                  <a:rPr lang="en-US" altLang="zh-CN" dirty="0"/>
                  <a:t> gives us initial probability matrices that are much cleaner than the raw adjacency. Essentially, it denoises the Bernoulli noise and captures the coarse structure of the graph.</a:t>
                </a:r>
              </a:p>
              <a:p>
                <a:r>
                  <a:rPr lang="en-US" altLang="zh-CN" dirty="0"/>
                  <a:t>These initial estimators are denoted by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 ̂_𝑠^𝑖𝑛𝑖</a:t>
                </a:r>
                <a:r>
                  <a:rPr lang="en-US" altLang="zh-CN" dirty="0"/>
                  <a:t>and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 ̂_𝑡^𝑖𝑛𝑖</a:t>
                </a:r>
                <a:r>
                  <a:rPr lang="ar-AE" altLang="zh-CN" dirty="0"/>
                  <a:t>.</a:t>
                </a:r>
                <a:br>
                  <a:rPr lang="ar-AE" altLang="zh-CN" dirty="0"/>
                </a:br>
                <a:r>
                  <a:rPr lang="en-US" altLang="zh-CN" dirty="0"/>
                  <a:t>One key advantage is that alignment based on these smoothed estimates is much closer to the ground truth compared to alignment on raw adjacency.</a:t>
                </a:r>
                <a:br>
                  <a:rPr lang="en-US" altLang="zh-CN" dirty="0"/>
                </a:br>
                <a:r>
                  <a:rPr lang="en-US" altLang="zh-CN" dirty="0"/>
                  <a:t>The only limitation is that, for the small target network, the estimate can still be less accurate simply because of the limited sample size.</a:t>
                </a:r>
              </a:p>
              <a:p>
                <a:r>
                  <a:rPr lang="en-US" altLang="zh-CN" dirty="0"/>
                  <a:t>So this step sets up a cleaner starting point for the transferring step.”</a:t>
                </a: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BEA0BB-9EBE-0690-1464-D00A0EDA2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252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9C921-3797-091A-F9A5-A67FAE4E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4106B4-D477-9227-0C2F-7487E501E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4B575741-592E-4537-9C57-637D1801F2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4B575741-592E-4537-9C57-637D1801F28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“Now let’s move on to the </a:t>
                </a:r>
                <a:r>
                  <a:rPr lang="en-US" altLang="zh-CN" b="1" dirty="0"/>
                  <a:t>transferring step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Here, the goal is to align the source and target graphs, and then transfer the source structure into the target latent space.</a:t>
                </a:r>
              </a:p>
              <a:p>
                <a:r>
                  <a:rPr lang="en-US" altLang="zh-CN" dirty="0"/>
                  <a:t>We do this using </a:t>
                </a:r>
                <a:r>
                  <a:rPr lang="en-US" altLang="zh-CN" b="1" dirty="0"/>
                  <a:t>optimal transport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We compute an alignment matrix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 ̂</a:t>
                </a:r>
                <a:r>
                  <a:rPr lang="en-US" altLang="zh-CN" dirty="0"/>
                  <a:t>based on the initial estimates.</a:t>
                </a:r>
                <a:br>
                  <a:rPr lang="en-US" altLang="zh-CN" dirty="0"/>
                </a:br>
                <a:r>
                  <a:rPr lang="en-US" altLang="zh-CN" dirty="0"/>
                  <a:t>If we use standard GW, we usually get sharper alignment, but if the source is very large, EGW is more efficient.</a:t>
                </a:r>
              </a:p>
              <a:p>
                <a:r>
                  <a:rPr lang="en-US" altLang="zh-CN" dirty="0"/>
                  <a:t>Next, we do a </a:t>
                </a:r>
                <a:r>
                  <a:rPr lang="en-US" altLang="zh-CN" b="1" dirty="0"/>
                  <a:t>normalization step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We column-normalize the transport plan so that each column sums to one.</a:t>
                </a:r>
                <a:br>
                  <a:rPr lang="en-US" altLang="zh-CN" dirty="0"/>
                </a:br>
                <a:r>
                  <a:rPr lang="en-US" altLang="zh-CN" dirty="0"/>
                  <a:t>This way, each entry tells us the strength of correspondence between a source node and a target node.</a:t>
                </a:r>
              </a:p>
              <a:p>
                <a:r>
                  <a:rPr lang="en-US" altLang="zh-CN" dirty="0"/>
                  <a:t>Finally, we do </a:t>
                </a:r>
                <a:r>
                  <a:rPr lang="en-US" altLang="zh-CN" b="1" dirty="0"/>
                  <a:t>projection and refinement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We project the source estimator into the target domain, and then apply neighborhood smoothing again.</a:t>
                </a:r>
                <a:br>
                  <a:rPr lang="en-US" altLang="zh-CN" dirty="0"/>
                </a:br>
                <a:r>
                  <a:rPr lang="en-US" altLang="zh-CN" dirty="0"/>
                  <a:t>This gives us a refined version, which ensures that the transferred estimator is not only aligned but also smooth.”</a:t>
                </a: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13E7E2-ED14-715F-539C-76431C86F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144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C5BF-2C41-04F0-40F2-D99269101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365948-CCC7-F798-4904-9D6F4D6E7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FDDA61-BF06-EAB5-B513-7BF3BD1C9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9B31F8-7E82-CD43-3A03-EFF37C0F4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04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32D4-AB4D-ED64-2FCE-2E4D74235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4B0534-5380-4265-E631-D70E1EA42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9C9C2CB3-4CF4-0652-457B-60AE48852E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9C9C2CB3-4CF4-0652-457B-60AE48852E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“Now let’s look at the theoretical properties of our method.</a:t>
                </a:r>
              </a:p>
              <a:p>
                <a:r>
                  <a:rPr lang="en-US" altLang="zh-CN" dirty="0"/>
                  <a:t>The motivation here is that the </a:t>
                </a:r>
                <a:r>
                  <a:rPr lang="en-US" altLang="zh-CN" b="1" dirty="0"/>
                  <a:t>stability of Entropic Gromov–Wasserstein alignment</a:t>
                </a:r>
                <a:r>
                  <a:rPr lang="en-US" altLang="zh-CN" dirty="0"/>
                  <a:t> is not well understood.</a:t>
                </a:r>
                <a:br>
                  <a:rPr lang="en-US" altLang="zh-CN" dirty="0"/>
                </a:br>
                <a:r>
                  <a:rPr lang="en-US" altLang="zh-CN" dirty="0"/>
                  <a:t>So the main question we ask is: </a:t>
                </a:r>
                <a:r>
                  <a:rPr lang="en-US" altLang="zh-CN" i="1" dirty="0"/>
                  <a:t>how close is our estimated alignment matrix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 ̂</a:t>
                </a:r>
                <a:r>
                  <a:rPr lang="en-US" altLang="zh-CN" i="1" dirty="0"/>
                  <a:t>to the oracle alignment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𝜋^∗</a:t>
                </a:r>
                <a:r>
                  <a:rPr lang="ar-AE" altLang="zh-CN" i="1" dirty="0"/>
                  <a:t>, </a:t>
                </a:r>
                <a:r>
                  <a:rPr lang="en-US" altLang="zh-CN" i="1" dirty="0"/>
                  <a:t>if we use initial graphon estimates instead of the true probability matrices?</a:t>
                </a:r>
                <a:endParaRPr lang="en-US" altLang="zh-CN" dirty="0"/>
              </a:p>
              <a:p>
                <a:r>
                  <a:rPr lang="en-US" altLang="zh-CN" dirty="0"/>
                  <a:t>Our main result is summarized in </a:t>
                </a:r>
                <a:r>
                  <a:rPr lang="en-US" altLang="zh-CN" b="1" dirty="0"/>
                  <a:t>Theorem 1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It shows that, under a mild condition on the regularization parameter 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</a:t>
                </a:r>
                <a:r>
                  <a:rPr lang="en-US" altLang="zh-CN" dirty="0"/>
                  <a:t>, the distance between the estimated alignment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 ̂</a:t>
                </a:r>
                <a:r>
                  <a:rPr lang="en-US" altLang="zh-CN" dirty="0"/>
                  <a:t>and the oracle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𝜋^∗</a:t>
                </a:r>
                <a:r>
                  <a:rPr lang="en-US" altLang="zh-CN" dirty="0"/>
                  <a:t>can be bounded.</a:t>
                </a:r>
                <a:br>
                  <a:rPr lang="en-US" altLang="zh-CN" dirty="0"/>
                </a:br>
                <a:r>
                  <a:rPr lang="en-US" altLang="zh-CN" dirty="0"/>
                  <a:t>Specifically, the bound depends on how close the initial probability estimates are to the true probability matrices.</a:t>
                </a:r>
              </a:p>
              <a:p>
                <a:r>
                  <a:rPr lang="en-US" altLang="zh-CN" dirty="0"/>
                  <a:t>So this theorem provides a formal guarantee: if the initial estimates are accurate enough, then our computed alignment will also be close to the true optimal alignment.”</a:t>
                </a: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E3E012-E7CD-847A-004E-D0ACD3DA4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087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2D17-7BAF-859F-90A6-A3301178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98C44E-9D54-76A9-A371-602494E86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1881F971-6BA5-2E92-66BF-4CA7B9E0BE5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9C9C2CB3-4CF4-0652-457B-60AE48852E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“Now let’s look at the theoretical properties of our method.</a:t>
                </a:r>
              </a:p>
              <a:p>
                <a:r>
                  <a:rPr lang="en-US" altLang="zh-CN" dirty="0"/>
                  <a:t>The motivation here is that the </a:t>
                </a:r>
                <a:r>
                  <a:rPr lang="en-US" altLang="zh-CN" b="1" dirty="0"/>
                  <a:t>stability of Entropic Gromov–Wasserstein alignment</a:t>
                </a:r>
                <a:r>
                  <a:rPr lang="en-US" altLang="zh-CN" dirty="0"/>
                  <a:t> is not well understood.</a:t>
                </a:r>
                <a:br>
                  <a:rPr lang="en-US" altLang="zh-CN" dirty="0"/>
                </a:br>
                <a:r>
                  <a:rPr lang="en-US" altLang="zh-CN" dirty="0"/>
                  <a:t>So the main question we ask is: </a:t>
                </a:r>
                <a:r>
                  <a:rPr lang="en-US" altLang="zh-CN" i="1" dirty="0"/>
                  <a:t>how close is our estimated alignment matrix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 ̂</a:t>
                </a:r>
                <a:r>
                  <a:rPr lang="en-US" altLang="zh-CN" i="1" dirty="0"/>
                  <a:t>to the oracle alignment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𝜋^∗</a:t>
                </a:r>
                <a:r>
                  <a:rPr lang="ar-AE" altLang="zh-CN" i="1" dirty="0"/>
                  <a:t>, </a:t>
                </a:r>
                <a:r>
                  <a:rPr lang="en-US" altLang="zh-CN" i="1" dirty="0"/>
                  <a:t>if we use initial graphon estimates instead of the true probability matrices?</a:t>
                </a:r>
                <a:endParaRPr lang="en-US" altLang="zh-CN" dirty="0"/>
              </a:p>
              <a:p>
                <a:r>
                  <a:rPr lang="en-US" altLang="zh-CN" dirty="0"/>
                  <a:t>Our main result is summarized in </a:t>
                </a:r>
                <a:r>
                  <a:rPr lang="en-US" altLang="zh-CN" b="1" dirty="0"/>
                  <a:t>Theorem 1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It shows that, under a mild condition on the regularization parameter 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</a:t>
                </a:r>
                <a:r>
                  <a:rPr lang="en-US" altLang="zh-CN" dirty="0"/>
                  <a:t>, the distance between the estimated alignment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 ̂</a:t>
                </a:r>
                <a:r>
                  <a:rPr lang="en-US" altLang="zh-CN" dirty="0"/>
                  <a:t>and the oracle 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𝜋^∗</a:t>
                </a:r>
                <a:r>
                  <a:rPr lang="en-US" altLang="zh-CN" dirty="0"/>
                  <a:t>can be bounded.</a:t>
                </a:r>
                <a:br>
                  <a:rPr lang="en-US" altLang="zh-CN" dirty="0"/>
                </a:br>
                <a:r>
                  <a:rPr lang="en-US" altLang="zh-CN" dirty="0"/>
                  <a:t>Specifically, the bound depends on how close the initial probability estimates are to the true probability matrices.</a:t>
                </a:r>
              </a:p>
              <a:p>
                <a:r>
                  <a:rPr lang="en-US" altLang="zh-CN" dirty="0"/>
                  <a:t>So this theorem provides a formal guarantee: if the initial estimates are accurate enough, then our computed alignment will also be close to the true optimal alignment.”</a:t>
                </a: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A2148-B3B1-5937-57BB-697B19D0D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675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644BA-AE11-6EC7-10E9-CDC028A4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3DFC8-3661-DF3E-3CE1-9220D779A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218769-7E14-3621-3087-864305932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9D2021-8B4F-CE8B-BA0B-0BF46835D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14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A403-170B-052B-9C87-9B9BB761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847358-36DD-5F6B-E61D-2F2ECFCFF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218C22F5-AE8E-6E95-03CC-B5E69F58803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dirty="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mc:Choice>
        <mc:Fallback xmlns="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218C22F5-AE8E-6E95-03CC-B5E69F58803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“Let me first explain the setup of our simulation experiments.</a:t>
                </a:r>
              </a:p>
              <a:p>
                <a:r>
                  <a:rPr lang="en-US" altLang="zh-CN" dirty="0"/>
                  <a:t>We designed two main research questions:</a:t>
                </a:r>
              </a:p>
              <a:p>
                <a:r>
                  <a:rPr lang="en-US" altLang="zh-CN" dirty="0"/>
                  <a:t>First, when the source and target come from the </a:t>
                </a:r>
                <a:r>
                  <a:rPr lang="en-US" altLang="zh-CN" b="1" dirty="0"/>
                  <a:t>same graphon</a:t>
                </a:r>
                <a:r>
                  <a:rPr lang="en-US" altLang="zh-CN" dirty="0"/>
                  <a:t>, can </a:t>
                </a:r>
                <a:r>
                  <a:rPr lang="en-US" altLang="zh-CN" dirty="0" err="1"/>
                  <a:t>GTrans</a:t>
                </a:r>
                <a:r>
                  <a:rPr lang="en-US" altLang="zh-CN" dirty="0"/>
                  <a:t> improve estimation compared to target-only methods?</a:t>
                </a:r>
              </a:p>
              <a:p>
                <a:r>
                  <a:rPr lang="en-US" altLang="zh-CN" dirty="0"/>
                  <a:t>Second, when the source and target come from </a:t>
                </a:r>
                <a:r>
                  <a:rPr lang="en-US" altLang="zh-CN" b="1" dirty="0"/>
                  <a:t>different graphons</a:t>
                </a:r>
                <a:r>
                  <a:rPr lang="en-US" altLang="zh-CN" dirty="0"/>
                  <a:t>, meaning there is a domain shift, how robust is </a:t>
                </a:r>
                <a:r>
                  <a:rPr lang="en-US" altLang="zh-CN" dirty="0" err="1"/>
                  <a:t>GTrans</a:t>
                </a:r>
                <a:r>
                  <a:rPr lang="en-US" altLang="zh-CN" dirty="0"/>
                  <a:t>? In other words, can it avoid negative transfer?</a:t>
                </a:r>
              </a:p>
              <a:p>
                <a:r>
                  <a:rPr lang="en-US" altLang="zh-CN" dirty="0"/>
                  <a:t>For the setup, we use </a:t>
                </a:r>
                <a:r>
                  <a:rPr lang="en-US" altLang="zh-CN" b="1" dirty="0"/>
                  <a:t>10 representative graphon functions</a:t>
                </a:r>
                <a:r>
                  <a:rPr lang="en-US" altLang="zh-CN" dirty="0"/>
                  <a:t>.</a:t>
                </a:r>
                <a:br>
                  <a:rPr lang="en-US" altLang="zh-CN" dirty="0"/>
                </a:br>
                <a:r>
                  <a:rPr lang="en-US" altLang="zh-CN" dirty="0"/>
                  <a:t>The target graphon is generated by adding a small perturbation to the source graphon, with 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𝜉</a:t>
                </a:r>
                <a:r>
                  <a:rPr lang="en-US" altLang="zh-CN" dirty="0"/>
                  <a:t>sampled uniformly between 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−0.01</a:t>
                </a:r>
                <a:r>
                  <a:rPr lang="en-US" altLang="zh-CN" dirty="0"/>
                  <a:t>and 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0.01</a:t>
                </a:r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We compare our method against several baseline estimators: NS, SAS, ICE, and USVT.</a:t>
                </a:r>
                <a:br>
                  <a:rPr lang="en-US" altLang="zh-CN" dirty="0"/>
                </a:br>
                <a:r>
                  <a:rPr lang="en-US" altLang="zh-CN" dirty="0"/>
                  <a:t>And we evaluate performance using </a:t>
                </a:r>
                <a:r>
                  <a:rPr lang="en-US" altLang="zh-CN" b="1" dirty="0"/>
                  <a:t>mean squared error</a:t>
                </a:r>
                <a:r>
                  <a:rPr lang="en-US" altLang="zh-CN" dirty="0"/>
                  <a:t>, averaged over 50 independent runs.</a:t>
                </a:r>
              </a:p>
              <a:p>
                <a:r>
                  <a:rPr lang="en-US" altLang="zh-CN" dirty="0"/>
                  <a:t>This setup allows us to carefully test both the benefits and the robustness of our framework.”</a:t>
                </a:r>
              </a:p>
              <a:p>
                <a:br>
                  <a:rPr lang="en-US" altLang="zh-CN" dirty="0"/>
                </a:br>
                <a:endParaRPr lang="en-US" altLang="zh-CN" dirty="0"/>
              </a:p>
              <a:p>
                <a:endParaRPr lang="en-US" altLang="zh-CN" dirty="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4AA188-7E1C-839E-4D45-C66B31029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366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160B7-7B8B-D6D3-251B-B80A9EF0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9C773A-A057-35A0-E929-006BF98BA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2F59E5-7E28-D997-AF35-D030E5735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1BDA5D-C886-E2C5-986F-DCE0A1F70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672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C568-EF18-FDA1-76E5-7B73D89F1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866702-1A9F-2F1C-6EAB-96D607B5E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13DFC2-4B17-EEEF-8346-9BCF8A880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A1A24-9B05-DFA5-8DAB-41779B116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50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D96F4-5A03-89EE-131E-2711C750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6FE9FB-07E6-6518-597C-2073C4E0D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4CE678-F6DB-C9A9-FF41-EF8FB481A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E3D17F-2FFE-E077-4F77-55B200B8B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598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D9BB-B011-BFA3-68CA-B2A153AE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7F567E-CC35-C3FD-81A2-DEC698658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4880E7-7904-CD8B-75C6-E0D5AE0CF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886751-3B56-DB07-FF48-394D90FBD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838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F5F6-107E-A21B-2A92-F25406C2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06F1FC-A839-7547-0802-B22DA0043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D0C6B6-BDEC-A32C-A940-C21FDF2C1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49FF21-F4D7-AAC5-ED1A-76E171841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1595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BCCDFA9-22DA-4E54-9200-38890BFB51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21" Type="http://schemas.openxmlformats.org/officeDocument/2006/relationships/image" Target="../media/image21.pn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image" Target="../media/image25.pn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2.png"/><Relationship Id="rId5" Type="http://schemas.openxmlformats.org/officeDocument/2006/relationships/image" Target="../media/image31.png"/><Relationship Id="rId15" Type="http://schemas.openxmlformats.org/officeDocument/2006/relationships/image" Target="../media/image36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429937" y="1831390"/>
            <a:ext cx="9238063" cy="1265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32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Transfer Learning on Edge Connecting Probability Estimation Under Graphon Model</a:t>
            </a: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35560" y="3380557"/>
            <a:ext cx="76328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Yuyao Wang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Yu-Hung Cheng</a:t>
            </a:r>
            <a:r>
              <a:rPr lang="en-US" altLang="zh-CN" sz="2400" baseline="30000" dirty="0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ctr">
              <a:defRPr/>
            </a:pPr>
            <a:r>
              <a:rPr lang="en-US" altLang="zh-CN" sz="2400" dirty="0" err="1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Debarghya</a:t>
            </a:r>
            <a:r>
              <a:rPr lang="en-US" altLang="zh-CN" sz="2400" dirty="0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Mukherjee</a:t>
            </a:r>
            <a:r>
              <a:rPr lang="en-US" altLang="zh-CN" sz="2400" baseline="30000" dirty="0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en-US" altLang="zh-CN" sz="2400" dirty="0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Huimin Cheng</a:t>
            </a:r>
            <a:r>
              <a:rPr lang="en-US" altLang="zh-CN" sz="2400" baseline="30000" dirty="0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2*</a:t>
            </a:r>
            <a:r>
              <a:rPr lang="en-US" altLang="zh-CN" sz="2400" dirty="0">
                <a:solidFill>
                  <a:srgbClr val="4343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75420" y="4448735"/>
            <a:ext cx="104411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400" baseline="30000" dirty="0">
                <a:solidFill>
                  <a:srgbClr val="434342"/>
                </a:solidFill>
                <a:latin typeface="Quattrocento Sans" panose="020B0502050000020003" pitchFamily="34" charset="0"/>
                <a:cs typeface="Arial" pitchFamily="34" charset="0"/>
              </a:rPr>
              <a:t>1</a:t>
            </a:r>
            <a:r>
              <a:rPr lang="en-US" altLang="zh-CN" sz="2400" dirty="0">
                <a:solidFill>
                  <a:srgbClr val="434342"/>
                </a:solidFill>
                <a:latin typeface="Quattrocento Sans" panose="020B0502050000020003" pitchFamily="34" charset="0"/>
                <a:cs typeface="Arial" pitchFamily="34" charset="0"/>
              </a:rPr>
              <a:t>Department of Mathematics and Statistics, Boston University</a:t>
            </a:r>
          </a:p>
          <a:p>
            <a:pPr algn="ctr">
              <a:defRPr/>
            </a:pPr>
            <a:r>
              <a:rPr lang="en-US" altLang="zh-CN" sz="2400" baseline="30000" dirty="0">
                <a:solidFill>
                  <a:srgbClr val="434342"/>
                </a:solidFill>
                <a:latin typeface="Quattrocento Sans" panose="020B0502050000020003" pitchFamily="34" charset="0"/>
                <a:cs typeface="Arial" pitchFamily="34" charset="0"/>
              </a:rPr>
              <a:t>2</a:t>
            </a:r>
            <a:r>
              <a:rPr lang="en-US" altLang="zh-CN" sz="2400" dirty="0">
                <a:solidFill>
                  <a:srgbClr val="434342"/>
                </a:solidFill>
                <a:latin typeface="Quattrocento Sans" panose="020B0502050000020003" pitchFamily="34" charset="0"/>
                <a:cs typeface="Arial" pitchFamily="34" charset="0"/>
              </a:rPr>
              <a:t>Department of Biostatistics, Boston University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zh-CN" sz="2400" dirty="0">
                <a:solidFill>
                  <a:srgbClr val="434342"/>
                </a:solidFill>
                <a:latin typeface="Quattrocento Sans" panose="020B0502050000020003" pitchFamily="34" charset="0"/>
                <a:cs typeface="Arial" pitchFamily="34" charset="0"/>
                <a:sym typeface="+mn-ea"/>
              </a:rPr>
              <a:t>* Co-corresponding authors.</a:t>
            </a:r>
          </a:p>
          <a:p>
            <a:pPr algn="ctr"/>
            <a:endParaRPr lang="en-US" altLang="zh-CN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zh-CN" sz="2800" b="1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NeurIPS</a:t>
            </a:r>
            <a:r>
              <a:rPr lang="en-US" altLang="zh-C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2025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EB8400D-2839-D96E-AC24-7C0BB58CB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296" y="0"/>
            <a:ext cx="2733704" cy="1230965"/>
          </a:xfrm>
          <a:prstGeom prst="rect">
            <a:avLst/>
          </a:prstGeom>
        </p:spPr>
      </p:pic>
      <p:pic>
        <p:nvPicPr>
          <p:cNvPr id="1026" name="Picture 2" descr="Press">
            <a:extLst>
              <a:ext uri="{FF2B5EF4-FFF2-40B4-BE49-F238E27FC236}">
                <a16:creationId xmlns:a16="http://schemas.microsoft.com/office/drawing/2014/main" id="{64A424D9-8B11-1FA2-202E-D31356069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90557" cy="147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15" y="80690"/>
            <a:ext cx="2290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Outline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45952" y="1365579"/>
            <a:ext cx="5106035" cy="5181415"/>
            <a:chOff x="848" y="2356"/>
            <a:chExt cx="8041" cy="8967"/>
          </a:xfrm>
        </p:grpSpPr>
        <p:sp>
          <p:nvSpPr>
            <p:cNvPr id="12" name="矩形: 圆角 1"/>
            <p:cNvSpPr/>
            <p:nvPr/>
          </p:nvSpPr>
          <p:spPr>
            <a:xfrm>
              <a:off x="848" y="2356"/>
              <a:ext cx="5315" cy="1088"/>
            </a:xfrm>
            <a:prstGeom prst="roundRect">
              <a:avLst/>
            </a:prstGeom>
            <a:solidFill>
              <a:srgbClr val="E6D8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内容占位符 2"/>
            <p:cNvSpPr txBox="1"/>
            <p:nvPr/>
          </p:nvSpPr>
          <p:spPr>
            <a:xfrm>
              <a:off x="848" y="2436"/>
              <a:ext cx="8041" cy="8887"/>
            </a:xfrm>
            <a:prstGeom prst="rect">
              <a:avLst/>
            </a:prstGeom>
          </p:spPr>
          <p:txBody>
            <a:bodyPr vert="horz" lIns="68580" tIns="34290" rIns="68580" bIns="3429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lang="en-US" altLang="zh-CN" sz="30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Introduction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 Background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 Motivation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Method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Experiments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lang="en-US" altLang="zh-CN" sz="30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Conclusion</a:t>
              </a: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8CA1C43-EF55-D53D-C58E-40E2622136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6" name="Picture 2" descr="Press">
            <a:extLst>
              <a:ext uri="{FF2B5EF4-FFF2-40B4-BE49-F238E27FC236}">
                <a16:creationId xmlns:a16="http://schemas.microsoft.com/office/drawing/2014/main" id="{DCD32581-F785-BA57-6DED-869A36120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3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0" y="80645"/>
            <a:ext cx="329247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软雅黑" panose="020B0503020204020204" charset="-122"/>
                <a:cs typeface="+mn-cs"/>
              </a:rPr>
              <a:t>Background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78449" y="4784154"/>
            <a:ext cx="9624046" cy="1305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811FC4D-6788-6123-3BB1-451067E9586D}"/>
                  </a:ext>
                </a:extLst>
              </p:cNvPr>
              <p:cNvSpPr txBox="1"/>
              <p:nvPr/>
            </p:nvSpPr>
            <p:spPr>
              <a:xfrm>
                <a:off x="468008" y="998502"/>
                <a:ext cx="11419191" cy="5686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Estimating connection probabilities.</a:t>
                </a:r>
              </a:p>
              <a:p>
                <a:pPr marL="800100" lvl="1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Edge probabilities = fundamental in complex networks (social, biological, etc.)</a:t>
                </a:r>
              </a:p>
              <a:p>
                <a:pPr marL="800100" lvl="1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Basis for downstream tasks → link prediction, denoising, data augmentation</a:t>
                </a:r>
                <a:endParaRPr lang="en-US" altLang="zh-CN" sz="2200" b="1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Graphon as a modeling framework.</a:t>
                </a: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Definition:</a:t>
                </a:r>
              </a:p>
              <a:p>
                <a:pPr lvl="1">
                  <a:lnSpc>
                    <a:spcPts val="4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200" i="1" dirty="0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CN" sz="2200" i="1" dirty="0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CN" sz="2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 dirty="0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altLang="zh-CN" sz="22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altLang="zh-CN" sz="2200" i="1" dirty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altLang="zh-CN" sz="2200" i="1" dirty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 dirty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altLang="zh-CN" sz="2200" dirty="0">
                  <a:latin typeface="Quattrocento Sans" panose="020B0502050000020003" pitchFamily="34" charset="0"/>
                </a:endParaRPr>
              </a:p>
              <a:p>
                <a:pPr marL="800100" lvl="1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How it works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:</a:t>
                </a:r>
              </a:p>
              <a:p>
                <a:pPr marL="1257300" lvl="2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Each node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gets a hidden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err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2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𝑈𝑛𝑖𝑓𝑜𝑟𝑚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sz="2200" i="1" dirty="0">
                    <a:latin typeface="Quattrocento Sans" panose="020B0502050000020003" pitchFamily="34" charset="0"/>
                  </a:rPr>
                  <a:t>.</a:t>
                </a:r>
                <a:endParaRPr lang="ar-AE" altLang="zh-CN" sz="2200" dirty="0">
                  <a:latin typeface="Quattrocento Sans" panose="020B0502050000020003" pitchFamily="34" charset="0"/>
                </a:endParaRPr>
              </a:p>
              <a:p>
                <a:pPr marL="1257300" lvl="2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Edge between nodes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𝐵𝑒𝑟𝑛𝑜𝑢𝑙𝑙𝑖</m:t>
                    </m:r>
                    <m:d>
                      <m:d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altLang="zh-CN" sz="2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2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2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2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800100" lvl="1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Intuition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: A graphon is a smooth function that encodes </a:t>
                </a:r>
                <a:r>
                  <a:rPr lang="en-US" altLang="zh-CN" sz="2200" i="1" dirty="0">
                    <a:latin typeface="Quattrocento Sans" panose="020B0502050000020003" pitchFamily="34" charset="0"/>
                  </a:rPr>
                  <a:t>edge probabilities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 in a network.</a:t>
                </a:r>
              </a:p>
              <a:p>
                <a:pPr>
                  <a:lnSpc>
                    <a:spcPts val="4000"/>
                  </a:lnSpc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811FC4D-6788-6123-3BB1-451067E95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8" y="998502"/>
                <a:ext cx="11419191" cy="5686108"/>
              </a:xfrm>
              <a:prstGeom prst="rect">
                <a:avLst/>
              </a:prstGeom>
              <a:blipFill>
                <a:blip r:embed="rId3"/>
                <a:stretch>
                  <a:fillRect l="-555" r="-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>
            <a:extLst>
              <a:ext uri="{FF2B5EF4-FFF2-40B4-BE49-F238E27FC236}">
                <a16:creationId xmlns:a16="http://schemas.microsoft.com/office/drawing/2014/main" id="{1DB24437-2A9E-660A-D8BC-B676FE96F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21" name="Picture 2" descr="Press">
            <a:extLst>
              <a:ext uri="{FF2B5EF4-FFF2-40B4-BE49-F238E27FC236}">
                <a16:creationId xmlns:a16="http://schemas.microsoft.com/office/drawing/2014/main" id="{0B7A808D-5A8B-CFFB-5DFC-2536FFBEC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9A9A-0155-E2FD-A182-DEF04621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207A3B2A-13B9-4012-F1CD-01140162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4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512B550-F893-458C-9D67-C86114AE65BD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0C2A527-0F2D-0D3C-5194-95B3791CC906}"/>
              </a:ext>
            </a:extLst>
          </p:cNvPr>
          <p:cNvSpPr/>
          <p:nvPr/>
        </p:nvSpPr>
        <p:spPr>
          <a:xfrm>
            <a:off x="0" y="80645"/>
            <a:ext cx="32924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altLang="zh-CN" sz="4000" b="1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Motivation</a:t>
            </a:r>
            <a:r>
              <a:rPr lang="en-US" altLang="zh-CN" sz="4000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3BC6C35-6219-FB73-9C9D-AB054F173952}"/>
              </a:ext>
            </a:extLst>
          </p:cNvPr>
          <p:cNvSpPr txBox="1"/>
          <p:nvPr/>
        </p:nvSpPr>
        <p:spPr>
          <a:xfrm>
            <a:off x="178449" y="4784154"/>
            <a:ext cx="9624046" cy="1305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D45C7BF-D78E-B02A-176A-649D9F23681D}"/>
              </a:ext>
            </a:extLst>
          </p:cNvPr>
          <p:cNvSpPr txBox="1"/>
          <p:nvPr/>
        </p:nvSpPr>
        <p:spPr>
          <a:xfrm>
            <a:off x="502633" y="1748701"/>
            <a:ext cx="6670360" cy="4147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Challenge</a:t>
            </a: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: 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Accurate graphon estimation typically requires large graphs, but many real datasets are small, leading to poor accuracy.</a:t>
            </a:r>
          </a:p>
          <a:p>
            <a:pPr>
              <a:lnSpc>
                <a:spcPts val="4000"/>
              </a:lnSpc>
            </a:pPr>
            <a:endParaRPr lang="en-US" altLang="zh-CN" sz="2200" b="1" dirty="0">
              <a:latin typeface="Quattrocento Sans" panose="020B0502050000020003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Motivation</a:t>
            </a: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: 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In practice, related domains often provide larger graphs, making transfer learning appealing. </a:t>
            </a:r>
          </a:p>
        </p:txBody>
      </p:sp>
      <p:pic>
        <p:nvPicPr>
          <p:cNvPr id="2" name="Picture 100">
            <a:extLst>
              <a:ext uri="{FF2B5EF4-FFF2-40B4-BE49-F238E27FC236}">
                <a16:creationId xmlns:a16="http://schemas.microsoft.com/office/drawing/2014/main" id="{1DE4EBE5-3841-345B-E8BC-24FEF6729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006" y="2029905"/>
            <a:ext cx="2845679" cy="2048889"/>
          </a:xfrm>
          <a:prstGeom prst="rect">
            <a:avLst/>
          </a:prstGeom>
        </p:spPr>
      </p:pic>
      <p:pic>
        <p:nvPicPr>
          <p:cNvPr id="3" name="Picture 103">
            <a:extLst>
              <a:ext uri="{FF2B5EF4-FFF2-40B4-BE49-F238E27FC236}">
                <a16:creationId xmlns:a16="http://schemas.microsoft.com/office/drawing/2014/main" id="{9BCD77A6-4CBB-1840-8030-A84678A6AB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11"/>
          <a:stretch>
            <a:fillRect/>
          </a:stretch>
        </p:blipFill>
        <p:spPr>
          <a:xfrm>
            <a:off x="8147083" y="4714821"/>
            <a:ext cx="2629503" cy="17989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305F67E-0626-7235-B18A-CE80CAFDFD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5" name="Picture 2" descr="Press">
            <a:extLst>
              <a:ext uri="{FF2B5EF4-FFF2-40B4-BE49-F238E27FC236}">
                <a16:creationId xmlns:a16="http://schemas.microsoft.com/office/drawing/2014/main" id="{030001BD-24B8-74CF-C9A0-36F6DB528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13D5F2-76A2-B442-C451-BA8789791D95}"/>
              </a:ext>
            </a:extLst>
          </p:cNvPr>
          <p:cNvSpPr txBox="1"/>
          <p:nvPr/>
        </p:nvSpPr>
        <p:spPr>
          <a:xfrm>
            <a:off x="8323206" y="1607459"/>
            <a:ext cx="22472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Small Network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8EC414AD-2FC4-144F-7332-E7EF85D89D26}"/>
              </a:ext>
            </a:extLst>
          </p:cNvPr>
          <p:cNvSpPr txBox="1"/>
          <p:nvPr/>
        </p:nvSpPr>
        <p:spPr>
          <a:xfrm>
            <a:off x="8442432" y="4200641"/>
            <a:ext cx="22472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/>
              <a:t>Large Network</a:t>
            </a:r>
          </a:p>
        </p:txBody>
      </p:sp>
    </p:spTree>
    <p:extLst>
      <p:ext uri="{BB962C8B-B14F-4D97-AF65-F5344CB8AC3E}">
        <p14:creationId xmlns:p14="http://schemas.microsoft.com/office/powerpoint/2010/main" val="367268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DB63-FE17-321C-A984-66F5E18A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062D65DD-B7CB-73B3-A332-385AE670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5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129324F-D46E-EFA1-9EEF-7659B58F6AB8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E763D72-361A-6BA0-E718-9297DD638265}"/>
              </a:ext>
            </a:extLst>
          </p:cNvPr>
          <p:cNvSpPr txBox="1"/>
          <p:nvPr/>
        </p:nvSpPr>
        <p:spPr>
          <a:xfrm>
            <a:off x="178449" y="4784154"/>
            <a:ext cx="9624046" cy="13057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 useBgFill="1">
        <p:nvSpPr>
          <p:cNvPr id="17" name="文本框 16">
            <a:extLst>
              <a:ext uri="{FF2B5EF4-FFF2-40B4-BE49-F238E27FC236}">
                <a16:creationId xmlns:a16="http://schemas.microsoft.com/office/drawing/2014/main" id="{684B2E8A-DF90-4E50-AAD6-574ED8881504}"/>
              </a:ext>
            </a:extLst>
          </p:cNvPr>
          <p:cNvSpPr txBox="1"/>
          <p:nvPr/>
        </p:nvSpPr>
        <p:spPr>
          <a:xfrm>
            <a:off x="522053" y="1613517"/>
            <a:ext cx="11305186" cy="4146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</a:rPr>
              <a:t>Problem in Transfer Learning</a:t>
            </a:r>
            <a:endParaRPr lang="en-US" altLang="zh-CN" sz="2200" dirty="0">
              <a:latin typeface="Quattrocento Sans" panose="020B0502050000020003" pitchFamily="34" charset="0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</a:rPr>
              <a:t>Prior methods: assume target ⊂ source, node correspondences known → unrealistic</a:t>
            </a: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</a:rPr>
              <a:t>Challenge 1</a:t>
            </a:r>
            <a:r>
              <a:rPr lang="en-US" altLang="zh-CN" sz="2200" dirty="0">
                <a:latin typeface="Quattrocento Sans" panose="020B0502050000020003" pitchFamily="34" charset="0"/>
              </a:rPr>
              <a:t>: Alignment — structural patterns may misalign without correspondences</a:t>
            </a: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</a:rPr>
              <a:t>Challenge 2</a:t>
            </a:r>
            <a:r>
              <a:rPr lang="en-US" altLang="zh-CN" sz="2200" dirty="0">
                <a:latin typeface="Quattrocento Sans" panose="020B0502050000020003" pitchFamily="34" charset="0"/>
              </a:rPr>
              <a:t>: Unsupervised — no labels/signals to guide transfer in graphon estimation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en-US" altLang="zh-CN" sz="2200" b="1" dirty="0">
              <a:latin typeface="Quattrocento Sans" panose="020B0502050000020003" pitchFamily="34" charset="0"/>
            </a:endParaRP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</a:rPr>
              <a:t>Our Goal</a:t>
            </a:r>
            <a:endParaRPr lang="en-US" altLang="zh-CN" sz="2200" dirty="0">
              <a:latin typeface="Quattrocento Sans" panose="020B0502050000020003" pitchFamily="34" charset="0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</a:rPr>
              <a:t>Framework for graphon transfer </a:t>
            </a:r>
            <a:r>
              <a:rPr lang="en-US" altLang="zh-CN" sz="2200" b="1" dirty="0">
                <a:latin typeface="Quattrocento Sans" panose="020B0502050000020003" pitchFamily="34" charset="0"/>
              </a:rPr>
              <a:t>without node correspondences</a:t>
            </a:r>
            <a:endParaRPr lang="en-US" altLang="zh-CN" sz="2200" dirty="0">
              <a:latin typeface="Quattrocento Sans" panose="020B0502050000020003" pitchFamily="34" charset="0"/>
            </a:endParaRPr>
          </a:p>
          <a:p>
            <a:pPr marL="800100" lvl="1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</a:rPr>
              <a:t>Reliable alignment + </a:t>
            </a:r>
            <a:r>
              <a:rPr lang="en-US" altLang="zh-CN" sz="2200" b="1" dirty="0">
                <a:latin typeface="Quattrocento Sans" panose="020B0502050000020003" pitchFamily="34" charset="0"/>
              </a:rPr>
              <a:t>negative transfer avoidance</a:t>
            </a:r>
            <a:r>
              <a:rPr lang="en-US" altLang="zh-CN" sz="2200" dirty="0">
                <a:latin typeface="Quattrocento Sans" panose="020B0502050000020003" pitchFamily="34" charset="0"/>
              </a:rPr>
              <a:t> when source ≠ target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732EC1-EA66-8294-FBEB-A1A9F8177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5" name="Picture 2" descr="Press">
            <a:extLst>
              <a:ext uri="{FF2B5EF4-FFF2-40B4-BE49-F238E27FC236}">
                <a16:creationId xmlns:a16="http://schemas.microsoft.com/office/drawing/2014/main" id="{7F80E2BA-5325-DA26-675E-3D1F544F3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CEDF9FC-F543-9427-A8B7-15E4E5209C9B}"/>
              </a:ext>
            </a:extLst>
          </p:cNvPr>
          <p:cNvSpPr/>
          <p:nvPr/>
        </p:nvSpPr>
        <p:spPr>
          <a:xfrm>
            <a:off x="0" y="80645"/>
            <a:ext cx="32924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defRPr/>
            </a:pPr>
            <a:r>
              <a:rPr lang="en-US" altLang="zh-CN" sz="4000" b="1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Motivation</a:t>
            </a:r>
            <a:r>
              <a:rPr lang="en-US" altLang="zh-CN" sz="4000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419502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B2F5B-3A33-8DB5-E6E6-0B66B498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25DCDC1B-1913-4DBE-C120-0337F30D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6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12BB048-2D1F-FEF4-E0FC-7C415F30E1EB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92CA0198-9E9C-3E3A-B495-BEADBACBDAAE}"/>
              </a:ext>
            </a:extLst>
          </p:cNvPr>
          <p:cNvSpPr/>
          <p:nvPr/>
        </p:nvSpPr>
        <p:spPr>
          <a:xfrm>
            <a:off x="315" y="80690"/>
            <a:ext cx="2290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Outline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87E8FE-CD5A-451E-ECC0-F918DB43D9E3}"/>
              </a:ext>
            </a:extLst>
          </p:cNvPr>
          <p:cNvGrpSpPr/>
          <p:nvPr/>
        </p:nvGrpSpPr>
        <p:grpSpPr>
          <a:xfrm>
            <a:off x="445952" y="1411805"/>
            <a:ext cx="8632734" cy="5135188"/>
            <a:chOff x="848" y="2436"/>
            <a:chExt cx="8041" cy="8887"/>
          </a:xfrm>
        </p:grpSpPr>
        <p:sp>
          <p:nvSpPr>
            <p:cNvPr id="12" name="矩形: 圆角 1">
              <a:extLst>
                <a:ext uri="{FF2B5EF4-FFF2-40B4-BE49-F238E27FC236}">
                  <a16:creationId xmlns:a16="http://schemas.microsoft.com/office/drawing/2014/main" id="{E577C379-E740-6249-396E-DC4F4BD95303}"/>
                </a:ext>
              </a:extLst>
            </p:cNvPr>
            <p:cNvSpPr/>
            <p:nvPr/>
          </p:nvSpPr>
          <p:spPr>
            <a:xfrm>
              <a:off x="848" y="3370"/>
              <a:ext cx="5315" cy="1088"/>
            </a:xfrm>
            <a:prstGeom prst="roundRect">
              <a:avLst/>
            </a:prstGeom>
            <a:solidFill>
              <a:srgbClr val="E6D8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内容占位符 2">
              <a:extLst>
                <a:ext uri="{FF2B5EF4-FFF2-40B4-BE49-F238E27FC236}">
                  <a16:creationId xmlns:a16="http://schemas.microsoft.com/office/drawing/2014/main" id="{282F2AFD-D52A-E6BE-6C14-6B454EE76864}"/>
                </a:ext>
              </a:extLst>
            </p:cNvPr>
            <p:cNvSpPr txBox="1"/>
            <p:nvPr/>
          </p:nvSpPr>
          <p:spPr>
            <a:xfrm>
              <a:off x="848" y="2436"/>
              <a:ext cx="8041" cy="8887"/>
            </a:xfrm>
            <a:prstGeom prst="rect">
              <a:avLst/>
            </a:prstGeom>
          </p:spPr>
          <p:txBody>
            <a:bodyPr vert="horz" lIns="68580" tIns="34290" rIns="68580" bIns="3429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lang="en-US" altLang="zh-CN" sz="30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Introduction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Method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 Overview 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 Initial Graphon Estimation 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 Transferring (Alignment via Optimal Transport) 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 Adaptive Debiasing Mechanism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endParaRP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Experiments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lang="en-US" altLang="zh-CN" sz="30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Conclusion</a:t>
              </a: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2F1A6B6-8078-C06E-575F-29521FF57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6" name="Picture 2" descr="Press">
            <a:extLst>
              <a:ext uri="{FF2B5EF4-FFF2-40B4-BE49-F238E27FC236}">
                <a16:creationId xmlns:a16="http://schemas.microsoft.com/office/drawing/2014/main" id="{F75B389A-34DD-1079-63E4-37A07055A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24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A1A6-7069-EF6D-337A-E060235D4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79049ADF-7F37-666C-D8DD-E4BFB4926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7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2A46694-259B-2DF6-2056-EC9C1CBA7092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913E5C55-38C9-7CDB-DC9A-59EB86219460}"/>
              </a:ext>
            </a:extLst>
          </p:cNvPr>
          <p:cNvSpPr/>
          <p:nvPr/>
        </p:nvSpPr>
        <p:spPr>
          <a:xfrm>
            <a:off x="346674" y="66405"/>
            <a:ext cx="9231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altLang="zh-CN" sz="4000" b="1" dirty="0">
                <a:latin typeface="Quattrocento Sans" panose="020B0502050000020003" pitchFamily="34" charset="0"/>
              </a:rPr>
              <a:t>Problem Setup</a:t>
            </a:r>
            <a:endParaRPr lang="en-US" altLang="zh-CN" sz="4000" dirty="0">
              <a:latin typeface="Quattrocento Sans" panose="020B05020500000200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ADF765F-7CB5-141C-1063-758B554D3A38}"/>
                  </a:ext>
                </a:extLst>
              </p:cNvPr>
              <p:cNvSpPr txBox="1"/>
              <p:nvPr/>
            </p:nvSpPr>
            <p:spPr>
              <a:xfrm>
                <a:off x="346674" y="1250991"/>
                <a:ext cx="11490396" cy="495763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ts val="4000"/>
                  </a:lnSpc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Problem Setup</a:t>
                </a:r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Goal: estimate </a:t>
                </a:r>
                <a:r>
                  <a:rPr lang="en-US" altLang="zh-CN" sz="2200" b="1" dirty="0">
                    <a:latin typeface="Quattrocento Sans" panose="020B0502050000020003" pitchFamily="34" charset="0"/>
                  </a:rPr>
                  <a:t>target graphon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 (latent probability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altLang="zh-CN" sz="2200" dirty="0">
                    <a:latin typeface="Quattrocento Sans" panose="020B0502050000020003" pitchFamily="34" charset="0"/>
                  </a:rPr>
                  <a:t>)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for small graph</a:t>
                </a:r>
              </a:p>
              <a:p>
                <a:pPr marL="342900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Source graph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: adjacency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[0,1]</m:t>
                        </m:r>
                      </m:e>
                      <m:sup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p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Target graph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: adjacency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[0,1]</m:t>
                        </m:r>
                      </m:e>
                      <m:sup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Both generated from latent graphons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altLang="zh-CN" sz="22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altLang="zh-CN" sz="2200" dirty="0">
                    <a:latin typeface="Quattrocento Sans" panose="020B0502050000020003" pitchFamily="34" charset="0"/>
                  </a:rPr>
                  <a:t>:</a:t>
                </a:r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>
                  <a:lnSpc>
                    <a:spcPts val="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𝐵𝑒𝑟</m:t>
                      </m:r>
                      <m:d>
                        <m:d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𝐵𝑒𝑟</m:t>
                      </m:r>
                      <m:d>
                        <m:d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zh-CN" sz="2200" b="0" dirty="0">
                  <a:latin typeface="Quattrocento Sans" panose="020B0502050000020003" pitchFamily="34" charset="0"/>
                </a:endParaRPr>
              </a:p>
              <a:p>
                <a:pPr>
                  <a:lnSpc>
                    <a:spcPts val="4000"/>
                  </a:lnSpc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Objective</a:t>
                </a:r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using </a:t>
                </a:r>
                <a:r>
                  <a:rPr lang="en-US" altLang="zh-CN" sz="2200" b="1" dirty="0">
                    <a:latin typeface="Quattrocento Sans" panose="020B0502050000020003" pitchFamily="34" charset="0"/>
                  </a:rPr>
                  <a:t>own data + transferred knowledge from source</a:t>
                </a:r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4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Adapt to </a:t>
                </a:r>
                <a:r>
                  <a:rPr lang="en-US" altLang="zh-CN" sz="2200" b="1" dirty="0">
                    <a:latin typeface="Quattrocento Sans" panose="020B0502050000020003" pitchFamily="34" charset="0"/>
                  </a:rPr>
                  <a:t>source–target differences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 to avoid negative transfer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ADF765F-7CB5-141C-1063-758B554D3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74" y="1250991"/>
                <a:ext cx="11490396" cy="4957638"/>
              </a:xfrm>
              <a:prstGeom prst="rect">
                <a:avLst/>
              </a:prstGeom>
              <a:blipFill>
                <a:blip r:embed="rId3"/>
                <a:stretch>
                  <a:fillRect l="-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F99BE88-7D80-6FF8-5C5C-B75E179E3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10" name="Picture 2" descr="Press">
            <a:extLst>
              <a:ext uri="{FF2B5EF4-FFF2-40B4-BE49-F238E27FC236}">
                <a16:creationId xmlns:a16="http://schemas.microsoft.com/office/drawing/2014/main" id="{081E2A27-B6F5-5B1F-C685-DB294B735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35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8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50358" y="97581"/>
            <a:ext cx="9231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Method-Overview: </a:t>
            </a:r>
            <a:r>
              <a:rPr lang="en-US" altLang="zh-CN" sz="4000" b="1" dirty="0" err="1">
                <a:latin typeface="Quattrocento Sans" panose="020B0502050000020003" pitchFamily="34" charset="0"/>
              </a:rPr>
              <a:t>GTrans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Quattrocento Sans" panose="020B0502050000020003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7793" y="4640919"/>
            <a:ext cx="11165225" cy="10744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ts val="3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latin typeface="Quattrocento Sans" panose="020B0502050000020003" pitchFamily="34" charset="0"/>
              </a:rPr>
              <a:t>GTrans</a:t>
            </a:r>
            <a:r>
              <a:rPr lang="en-US" altLang="zh-CN" sz="2400" b="1" dirty="0">
                <a:latin typeface="Quattrocento Sans" panose="020B0502050000020003" pitchFamily="34" charset="0"/>
              </a:rPr>
              <a:t> framework</a:t>
            </a:r>
            <a:r>
              <a:rPr lang="en-US" altLang="zh-CN" sz="2400" dirty="0">
                <a:latin typeface="Quattrocento Sans" panose="020B0502050000020003" pitchFamily="34" charset="0"/>
              </a:rPr>
              <a:t> (</a:t>
            </a:r>
            <a:r>
              <a:rPr lang="en-US" altLang="zh-CN" sz="2400" dirty="0">
                <a:solidFill>
                  <a:srgbClr val="000000"/>
                </a:solidFill>
                <a:latin typeface="Quattrocento Sans" panose="020B0502050000020003" pitchFamily="34" charset="0"/>
                <a:cs typeface="Times New Roman" panose="02020603050405020304" charset="0"/>
                <a:sym typeface="+mn-ea"/>
              </a:rPr>
              <a:t>3 steps): </a:t>
            </a:r>
          </a:p>
          <a:p>
            <a:pPr marL="742950" lvl="1" indent="-28575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</a:rPr>
              <a:t>Initial estimation </a:t>
            </a:r>
            <a:r>
              <a:rPr lang="en-US" altLang="zh-CN" sz="2200" dirty="0">
                <a:latin typeface="Quattrocento Sans" panose="020B0502050000020003" pitchFamily="34" charset="0"/>
              </a:rPr>
              <a:t>→</a:t>
            </a:r>
            <a:r>
              <a:rPr lang="en-US" altLang="zh-CN" sz="2200" b="1" dirty="0">
                <a:latin typeface="Quattrocento Sans" panose="020B0502050000020003" pitchFamily="34" charset="0"/>
              </a:rPr>
              <a:t> </a:t>
            </a:r>
            <a:r>
              <a:rPr lang="en-US" altLang="zh-CN" sz="2200" dirty="0">
                <a:latin typeface="Quattrocento Sans" panose="020B0502050000020003" pitchFamily="34" charset="0"/>
              </a:rPr>
              <a:t>Neighborhood smoothing on source &amp; target</a:t>
            </a:r>
          </a:p>
          <a:p>
            <a:pPr marL="742950" lvl="1" indent="-28575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</a:rPr>
              <a:t>Transferring </a:t>
            </a:r>
            <a:r>
              <a:rPr lang="en-US" altLang="zh-CN" sz="2200" dirty="0">
                <a:latin typeface="Quattrocento Sans" panose="020B0502050000020003" pitchFamily="34" charset="0"/>
              </a:rPr>
              <a:t>→</a:t>
            </a:r>
            <a:r>
              <a:rPr lang="en-US" altLang="zh-CN" sz="2200" b="1" dirty="0">
                <a:latin typeface="Quattrocento Sans" panose="020B0502050000020003" pitchFamily="34" charset="0"/>
              </a:rPr>
              <a:t> </a:t>
            </a:r>
            <a:r>
              <a:rPr lang="en-US" altLang="zh-CN" sz="2200" dirty="0">
                <a:latin typeface="Quattrocento Sans" panose="020B0502050000020003" pitchFamily="34" charset="0"/>
              </a:rPr>
              <a:t>Align structural patterns using optimal transport,</a:t>
            </a:r>
          </a:p>
          <a:p>
            <a:pPr marL="742950" lvl="1" indent="-28575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</a:rPr>
              <a:t>Adaptive Debiasing</a:t>
            </a:r>
            <a:r>
              <a:rPr lang="en-US" altLang="zh-CN" sz="2200" dirty="0">
                <a:latin typeface="Quattrocento Sans" panose="020B0502050000020003" pitchFamily="34" charset="0"/>
              </a:rPr>
              <a:t> → Correct target-specific deviations, prevent negative transfer</a:t>
            </a:r>
          </a:p>
          <a:p>
            <a:pPr marL="285750" indent="-285750" algn="just">
              <a:lnSpc>
                <a:spcPts val="3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00000"/>
              </a:solidFill>
              <a:latin typeface="Quattrocento Sans" panose="020B0502050000020003" pitchFamily="3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E61AD4-D3B8-C1CA-E3D5-6139515CD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10" name="Picture 2" descr="Press">
            <a:extLst>
              <a:ext uri="{FF2B5EF4-FFF2-40B4-BE49-F238E27FC236}">
                <a16:creationId xmlns:a16="http://schemas.microsoft.com/office/drawing/2014/main" id="{E7366D3D-69EE-0C6E-6012-00A1EE122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19">
            <a:extLst>
              <a:ext uri="{FF2B5EF4-FFF2-40B4-BE49-F238E27FC236}">
                <a16:creationId xmlns:a16="http://schemas.microsoft.com/office/drawing/2014/main" id="{009F2CF9-F887-3C40-E3B1-44FE6E493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9979" y="1870628"/>
            <a:ext cx="2044227" cy="1693788"/>
          </a:xfrm>
          <a:prstGeom prst="rect">
            <a:avLst/>
          </a:prstGeom>
        </p:spPr>
      </p:pic>
      <p:sp>
        <p:nvSpPr>
          <p:cNvPr id="128" name="TextBox 5">
            <a:extLst>
              <a:ext uri="{FF2B5EF4-FFF2-40B4-BE49-F238E27FC236}">
                <a16:creationId xmlns:a16="http://schemas.microsoft.com/office/drawing/2014/main" id="{3CFE070A-185C-B7D5-C69C-F05345E36CFA}"/>
              </a:ext>
            </a:extLst>
          </p:cNvPr>
          <p:cNvSpPr txBox="1"/>
          <p:nvPr/>
        </p:nvSpPr>
        <p:spPr>
          <a:xfrm>
            <a:off x="830747" y="1347158"/>
            <a:ext cx="1602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 Network</a:t>
            </a:r>
          </a:p>
        </p:txBody>
      </p:sp>
      <p:sp>
        <p:nvSpPr>
          <p:cNvPr id="129" name="Right Arrow 77">
            <a:extLst>
              <a:ext uri="{FF2B5EF4-FFF2-40B4-BE49-F238E27FC236}">
                <a16:creationId xmlns:a16="http://schemas.microsoft.com/office/drawing/2014/main" id="{A3ADE335-0BE7-8F68-D2BA-01D6D0A3ADBD}"/>
              </a:ext>
            </a:extLst>
          </p:cNvPr>
          <p:cNvSpPr/>
          <p:nvPr/>
        </p:nvSpPr>
        <p:spPr>
          <a:xfrm rot="5400000">
            <a:off x="10042894" y="3059469"/>
            <a:ext cx="399969" cy="274320"/>
          </a:xfrm>
          <a:prstGeom prst="rightArrow">
            <a:avLst>
              <a:gd name="adj1" fmla="val 50001"/>
              <a:gd name="adj2" fmla="val 50000"/>
            </a:avLst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0" name="Picture 105">
            <a:extLst>
              <a:ext uri="{FF2B5EF4-FFF2-40B4-BE49-F238E27FC236}">
                <a16:creationId xmlns:a16="http://schemas.microsoft.com/office/drawing/2014/main" id="{A9A62B5B-F6B2-3B38-7499-96BC73618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539" y="1446389"/>
            <a:ext cx="1551458" cy="1979447"/>
          </a:xfrm>
          <a:prstGeom prst="rect">
            <a:avLst/>
          </a:prstGeom>
        </p:spPr>
      </p:pic>
      <p:sp>
        <p:nvSpPr>
          <p:cNvPr id="131" name="Rectangle 92">
            <a:extLst>
              <a:ext uri="{FF2B5EF4-FFF2-40B4-BE49-F238E27FC236}">
                <a16:creationId xmlns:a16="http://schemas.microsoft.com/office/drawing/2014/main" id="{31290447-6CA0-49B2-CCE5-FBC787FE0CFB}"/>
              </a:ext>
            </a:extLst>
          </p:cNvPr>
          <p:cNvSpPr/>
          <p:nvPr/>
        </p:nvSpPr>
        <p:spPr>
          <a:xfrm>
            <a:off x="8101509" y="1075964"/>
            <a:ext cx="1209499" cy="259686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40">
            <a:extLst>
              <a:ext uri="{FF2B5EF4-FFF2-40B4-BE49-F238E27FC236}">
                <a16:creationId xmlns:a16="http://schemas.microsoft.com/office/drawing/2014/main" id="{92C9219B-FC00-9008-9B90-A8E13D2F2273}"/>
              </a:ext>
            </a:extLst>
          </p:cNvPr>
          <p:cNvSpPr txBox="1"/>
          <p:nvPr/>
        </p:nvSpPr>
        <p:spPr>
          <a:xfrm>
            <a:off x="8158277" y="1060316"/>
            <a:ext cx="109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Transferring</a:t>
            </a:r>
          </a:p>
        </p:txBody>
      </p:sp>
      <p:sp>
        <p:nvSpPr>
          <p:cNvPr id="133" name="Rectangle 87">
            <a:extLst>
              <a:ext uri="{FF2B5EF4-FFF2-40B4-BE49-F238E27FC236}">
                <a16:creationId xmlns:a16="http://schemas.microsoft.com/office/drawing/2014/main" id="{A22A22CB-1565-1E48-8436-A19D75492651}"/>
              </a:ext>
            </a:extLst>
          </p:cNvPr>
          <p:cNvSpPr/>
          <p:nvPr/>
        </p:nvSpPr>
        <p:spPr>
          <a:xfrm>
            <a:off x="814831" y="1075964"/>
            <a:ext cx="1757381" cy="259686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89">
            <a:extLst>
              <a:ext uri="{FF2B5EF4-FFF2-40B4-BE49-F238E27FC236}">
                <a16:creationId xmlns:a16="http://schemas.microsoft.com/office/drawing/2014/main" id="{84AAEC67-53C9-C09E-7571-0B32C16BE04D}"/>
              </a:ext>
            </a:extLst>
          </p:cNvPr>
          <p:cNvSpPr/>
          <p:nvPr/>
        </p:nvSpPr>
        <p:spPr>
          <a:xfrm>
            <a:off x="2852168" y="1088501"/>
            <a:ext cx="1289513" cy="259686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90">
            <a:extLst>
              <a:ext uri="{FF2B5EF4-FFF2-40B4-BE49-F238E27FC236}">
                <a16:creationId xmlns:a16="http://schemas.microsoft.com/office/drawing/2014/main" id="{B84A7B64-A1CC-E520-06C0-654B4D0618B7}"/>
              </a:ext>
            </a:extLst>
          </p:cNvPr>
          <p:cNvSpPr/>
          <p:nvPr/>
        </p:nvSpPr>
        <p:spPr>
          <a:xfrm>
            <a:off x="4455987" y="1075964"/>
            <a:ext cx="1595533" cy="259686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91">
            <a:extLst>
              <a:ext uri="{FF2B5EF4-FFF2-40B4-BE49-F238E27FC236}">
                <a16:creationId xmlns:a16="http://schemas.microsoft.com/office/drawing/2014/main" id="{E97C0C34-33BD-C877-CF19-3002BE422A1D}"/>
              </a:ext>
            </a:extLst>
          </p:cNvPr>
          <p:cNvSpPr/>
          <p:nvPr/>
        </p:nvSpPr>
        <p:spPr>
          <a:xfrm>
            <a:off x="6332262" y="1075964"/>
            <a:ext cx="1396673" cy="259686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4">
            <a:extLst>
              <a:ext uri="{FF2B5EF4-FFF2-40B4-BE49-F238E27FC236}">
                <a16:creationId xmlns:a16="http://schemas.microsoft.com/office/drawing/2014/main" id="{C3344F5A-9B30-CA45-E903-35538380BA1D}"/>
              </a:ext>
            </a:extLst>
          </p:cNvPr>
          <p:cNvSpPr txBox="1"/>
          <p:nvPr/>
        </p:nvSpPr>
        <p:spPr>
          <a:xfrm>
            <a:off x="923781" y="2981634"/>
            <a:ext cx="1416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Target Network</a:t>
            </a:r>
          </a:p>
        </p:txBody>
      </p:sp>
      <p:sp>
        <p:nvSpPr>
          <p:cNvPr id="138" name="Right Arrow 6">
            <a:extLst>
              <a:ext uri="{FF2B5EF4-FFF2-40B4-BE49-F238E27FC236}">
                <a16:creationId xmlns:a16="http://schemas.microsoft.com/office/drawing/2014/main" id="{55C96A46-6636-3A99-2FF6-5CE7C0925F36}"/>
              </a:ext>
            </a:extLst>
          </p:cNvPr>
          <p:cNvSpPr/>
          <p:nvPr/>
        </p:nvSpPr>
        <p:spPr>
          <a:xfrm>
            <a:off x="2559879" y="1768170"/>
            <a:ext cx="365760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ight Arrow 9">
            <a:extLst>
              <a:ext uri="{FF2B5EF4-FFF2-40B4-BE49-F238E27FC236}">
                <a16:creationId xmlns:a16="http://schemas.microsoft.com/office/drawing/2014/main" id="{46EB1004-06A2-86DD-CBC4-1B96AE1B8318}"/>
              </a:ext>
            </a:extLst>
          </p:cNvPr>
          <p:cNvSpPr/>
          <p:nvPr/>
        </p:nvSpPr>
        <p:spPr>
          <a:xfrm>
            <a:off x="2559879" y="3464313"/>
            <a:ext cx="365760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ight Arrow 12">
            <a:extLst>
              <a:ext uri="{FF2B5EF4-FFF2-40B4-BE49-F238E27FC236}">
                <a16:creationId xmlns:a16="http://schemas.microsoft.com/office/drawing/2014/main" id="{2E1F7207-2D9D-740F-2809-40FDB213543F}"/>
              </a:ext>
            </a:extLst>
          </p:cNvPr>
          <p:cNvSpPr/>
          <p:nvPr/>
        </p:nvSpPr>
        <p:spPr>
          <a:xfrm rot="20478142">
            <a:off x="4117099" y="3494841"/>
            <a:ext cx="365760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32">
            <a:extLst>
              <a:ext uri="{FF2B5EF4-FFF2-40B4-BE49-F238E27FC236}">
                <a16:creationId xmlns:a16="http://schemas.microsoft.com/office/drawing/2014/main" id="{FE034210-7011-10BB-BE7A-0669DF1BFA0A}"/>
              </a:ext>
            </a:extLst>
          </p:cNvPr>
          <p:cNvSpPr txBox="1"/>
          <p:nvPr/>
        </p:nvSpPr>
        <p:spPr>
          <a:xfrm>
            <a:off x="822803" y="1064456"/>
            <a:ext cx="189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Original Networks</a:t>
            </a:r>
          </a:p>
        </p:txBody>
      </p:sp>
      <p:sp>
        <p:nvSpPr>
          <p:cNvPr id="143" name="TextBox 33">
            <a:extLst>
              <a:ext uri="{FF2B5EF4-FFF2-40B4-BE49-F238E27FC236}">
                <a16:creationId xmlns:a16="http://schemas.microsoft.com/office/drawing/2014/main" id="{3C5AFAC3-3FC0-4770-4F45-5ACCA702BE11}"/>
              </a:ext>
            </a:extLst>
          </p:cNvPr>
          <p:cNvSpPr txBox="1"/>
          <p:nvPr/>
        </p:nvSpPr>
        <p:spPr>
          <a:xfrm>
            <a:off x="4469435" y="1065640"/>
            <a:ext cx="1620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Optimal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39">
                <a:extLst>
                  <a:ext uri="{FF2B5EF4-FFF2-40B4-BE49-F238E27FC236}">
                    <a16:creationId xmlns:a16="http://schemas.microsoft.com/office/drawing/2014/main" id="{CC10A337-97F3-F520-FCAF-924641A6F8D9}"/>
                  </a:ext>
                </a:extLst>
              </p:cNvPr>
              <p:cNvSpPr txBox="1"/>
              <p:nvPr/>
            </p:nvSpPr>
            <p:spPr>
              <a:xfrm>
                <a:off x="6525668" y="1052193"/>
                <a:ext cx="1620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Alignment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44" name="TextBox 39">
                <a:extLst>
                  <a:ext uri="{FF2B5EF4-FFF2-40B4-BE49-F238E27FC236}">
                    <a16:creationId xmlns:a16="http://schemas.microsoft.com/office/drawing/2014/main" id="{CC10A337-97F3-F520-FCAF-924641A6F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668" y="1052193"/>
                <a:ext cx="1620971" cy="307777"/>
              </a:xfrm>
              <a:prstGeom prst="rect">
                <a:avLst/>
              </a:prstGeom>
              <a:blipFill>
                <a:blip r:embed="rId7"/>
                <a:stretch>
                  <a:fillRect l="-775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Right Arrow 73">
            <a:extLst>
              <a:ext uri="{FF2B5EF4-FFF2-40B4-BE49-F238E27FC236}">
                <a16:creationId xmlns:a16="http://schemas.microsoft.com/office/drawing/2014/main" id="{E11AE74C-95C1-159F-22BE-287F842CAFB8}"/>
              </a:ext>
            </a:extLst>
          </p:cNvPr>
          <p:cNvSpPr/>
          <p:nvPr/>
        </p:nvSpPr>
        <p:spPr>
          <a:xfrm>
            <a:off x="9299053" y="2312798"/>
            <a:ext cx="365760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ight Arrow 81">
            <a:extLst>
              <a:ext uri="{FF2B5EF4-FFF2-40B4-BE49-F238E27FC236}">
                <a16:creationId xmlns:a16="http://schemas.microsoft.com/office/drawing/2014/main" id="{E2BF1E36-2F23-7FF4-63C7-CD975E29575C}"/>
              </a:ext>
            </a:extLst>
          </p:cNvPr>
          <p:cNvSpPr/>
          <p:nvPr/>
        </p:nvSpPr>
        <p:spPr>
          <a:xfrm rot="10800000">
            <a:off x="9274740" y="4230362"/>
            <a:ext cx="365760" cy="274320"/>
          </a:xfrm>
          <a:prstGeom prst="rightArrow">
            <a:avLst>
              <a:gd name="adj1" fmla="val 57246"/>
              <a:gd name="adj2" fmla="val 50000"/>
            </a:avLst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7" name="Group 95">
            <a:extLst>
              <a:ext uri="{FF2B5EF4-FFF2-40B4-BE49-F238E27FC236}">
                <a16:creationId xmlns:a16="http://schemas.microsoft.com/office/drawing/2014/main" id="{9BB4938B-D4C9-17F9-09FC-467AFE225F89}"/>
              </a:ext>
            </a:extLst>
          </p:cNvPr>
          <p:cNvGrpSpPr/>
          <p:nvPr/>
        </p:nvGrpSpPr>
        <p:grpSpPr>
          <a:xfrm>
            <a:off x="9481934" y="1052193"/>
            <a:ext cx="1229614" cy="307777"/>
            <a:chOff x="10147968" y="2422952"/>
            <a:chExt cx="1229614" cy="307777"/>
          </a:xfrm>
        </p:grpSpPr>
        <p:sp>
          <p:nvSpPr>
            <p:cNvPr id="148" name="Rectangle 93">
              <a:extLst>
                <a:ext uri="{FF2B5EF4-FFF2-40B4-BE49-F238E27FC236}">
                  <a16:creationId xmlns:a16="http://schemas.microsoft.com/office/drawing/2014/main" id="{35FDDE59-EE18-5404-A23D-8E6D23959AC2}"/>
                </a:ext>
              </a:extLst>
            </p:cNvPr>
            <p:cNvSpPr/>
            <p:nvPr/>
          </p:nvSpPr>
          <p:spPr>
            <a:xfrm>
              <a:off x="10147968" y="2446723"/>
              <a:ext cx="1229614" cy="259686"/>
            </a:xfrm>
            <a:prstGeom prst="rect">
              <a:avLst/>
            </a:prstGeom>
            <a:solidFill>
              <a:srgbClr val="FBDB83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94">
              <a:extLst>
                <a:ext uri="{FF2B5EF4-FFF2-40B4-BE49-F238E27FC236}">
                  <a16:creationId xmlns:a16="http://schemas.microsoft.com/office/drawing/2014/main" id="{DEDD2395-DBE9-64C7-B5C7-C4DAF82C2BFA}"/>
                </a:ext>
              </a:extLst>
            </p:cNvPr>
            <p:cNvSpPr txBox="1"/>
            <p:nvPr/>
          </p:nvSpPr>
          <p:spPr>
            <a:xfrm>
              <a:off x="10287233" y="2422952"/>
              <a:ext cx="10903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Smoothing</a:t>
              </a:r>
            </a:p>
          </p:txBody>
        </p:sp>
      </p:grpSp>
      <p:sp>
        <p:nvSpPr>
          <p:cNvPr id="150" name="Right Arrow 11">
            <a:extLst>
              <a:ext uri="{FF2B5EF4-FFF2-40B4-BE49-F238E27FC236}">
                <a16:creationId xmlns:a16="http://schemas.microsoft.com/office/drawing/2014/main" id="{5B26E8BF-5EDE-A61E-F82D-978E8CD0E73C}"/>
              </a:ext>
            </a:extLst>
          </p:cNvPr>
          <p:cNvSpPr/>
          <p:nvPr/>
        </p:nvSpPr>
        <p:spPr>
          <a:xfrm rot="2106325">
            <a:off x="4124536" y="1796201"/>
            <a:ext cx="365760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1" name="Picture 100">
            <a:extLst>
              <a:ext uri="{FF2B5EF4-FFF2-40B4-BE49-F238E27FC236}">
                <a16:creationId xmlns:a16="http://schemas.microsoft.com/office/drawing/2014/main" id="{55F71055-F43F-8112-3680-3CA030E3AF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750" y="3261004"/>
            <a:ext cx="1250271" cy="900195"/>
          </a:xfrm>
          <a:prstGeom prst="rect">
            <a:avLst/>
          </a:prstGeom>
        </p:spPr>
      </p:pic>
      <p:pic>
        <p:nvPicPr>
          <p:cNvPr id="152" name="Picture 103">
            <a:extLst>
              <a:ext uri="{FF2B5EF4-FFF2-40B4-BE49-F238E27FC236}">
                <a16:creationId xmlns:a16="http://schemas.microsoft.com/office/drawing/2014/main" id="{A92AB536-A758-6C51-FBFD-995FE4620E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70" y="1594222"/>
            <a:ext cx="1715333" cy="1128840"/>
          </a:xfrm>
          <a:prstGeom prst="rect">
            <a:avLst/>
          </a:prstGeom>
        </p:spPr>
      </p:pic>
      <p:sp>
        <p:nvSpPr>
          <p:cNvPr id="153" name="Right Arrow 38">
            <a:extLst>
              <a:ext uri="{FF2B5EF4-FFF2-40B4-BE49-F238E27FC236}">
                <a16:creationId xmlns:a16="http://schemas.microsoft.com/office/drawing/2014/main" id="{CCB89EA8-5E5C-5806-0A56-7B1AAF9D9BD8}"/>
              </a:ext>
            </a:extLst>
          </p:cNvPr>
          <p:cNvSpPr/>
          <p:nvPr/>
        </p:nvSpPr>
        <p:spPr>
          <a:xfrm>
            <a:off x="6293196" y="2316888"/>
            <a:ext cx="213346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15">
                <a:extLst>
                  <a:ext uri="{FF2B5EF4-FFF2-40B4-BE49-F238E27FC236}">
                    <a16:creationId xmlns:a16="http://schemas.microsoft.com/office/drawing/2014/main" id="{29DEA20C-9289-70B0-4E24-6BD33F81CF5A}"/>
                  </a:ext>
                </a:extLst>
              </p:cNvPr>
              <p:cNvSpPr txBox="1"/>
              <p:nvPr/>
            </p:nvSpPr>
            <p:spPr>
              <a:xfrm>
                <a:off x="9767242" y="3472781"/>
                <a:ext cx="10903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Residual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4" name="TextBox 115">
                <a:extLst>
                  <a:ext uri="{FF2B5EF4-FFF2-40B4-BE49-F238E27FC236}">
                    <a16:creationId xmlns:a16="http://schemas.microsoft.com/office/drawing/2014/main" id="{29DEA20C-9289-70B0-4E24-6BD33F81C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242" y="3472781"/>
                <a:ext cx="1090347" cy="307777"/>
              </a:xfrm>
              <a:prstGeom prst="rect">
                <a:avLst/>
              </a:prstGeom>
              <a:blipFill>
                <a:blip r:embed="rId10"/>
                <a:stretch>
                  <a:fillRect l="-1149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TextBox 116">
            <a:extLst>
              <a:ext uri="{FF2B5EF4-FFF2-40B4-BE49-F238E27FC236}">
                <a16:creationId xmlns:a16="http://schemas.microsoft.com/office/drawing/2014/main" id="{46C75C8F-BA51-B058-4534-6537738642AE}"/>
              </a:ext>
            </a:extLst>
          </p:cNvPr>
          <p:cNvSpPr txBox="1"/>
          <p:nvPr/>
        </p:nvSpPr>
        <p:spPr>
          <a:xfrm>
            <a:off x="7948867" y="3469863"/>
            <a:ext cx="1799125" cy="313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Smoothed Residual</a:t>
            </a:r>
          </a:p>
        </p:txBody>
      </p:sp>
      <p:sp>
        <p:nvSpPr>
          <p:cNvPr id="156" name="TextBox 118">
            <a:extLst>
              <a:ext uri="{FF2B5EF4-FFF2-40B4-BE49-F238E27FC236}">
                <a16:creationId xmlns:a16="http://schemas.microsoft.com/office/drawing/2014/main" id="{A1A0D9C2-6D09-7EFE-F457-89A86FBB7A59}"/>
              </a:ext>
            </a:extLst>
          </p:cNvPr>
          <p:cNvSpPr txBox="1"/>
          <p:nvPr/>
        </p:nvSpPr>
        <p:spPr>
          <a:xfrm>
            <a:off x="6262946" y="3472781"/>
            <a:ext cx="2041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Debiased estimate</a:t>
            </a:r>
          </a:p>
        </p:txBody>
      </p:sp>
      <p:pic>
        <p:nvPicPr>
          <p:cNvPr id="157" name="Picture 140">
            <a:extLst>
              <a:ext uri="{FF2B5EF4-FFF2-40B4-BE49-F238E27FC236}">
                <a16:creationId xmlns:a16="http://schemas.microsoft.com/office/drawing/2014/main" id="{8462E1F8-6DC0-C0B1-3FF7-8AA0D85EC6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0312528" y="4268152"/>
            <a:ext cx="1015300" cy="175734"/>
          </a:xfrm>
          <a:prstGeom prst="rect">
            <a:avLst/>
          </a:prstGeom>
        </p:spPr>
      </p:pic>
      <p:sp>
        <p:nvSpPr>
          <p:cNvPr id="158" name="Right Arrow 82">
            <a:extLst>
              <a:ext uri="{FF2B5EF4-FFF2-40B4-BE49-F238E27FC236}">
                <a16:creationId xmlns:a16="http://schemas.microsoft.com/office/drawing/2014/main" id="{0EC83AB5-D949-CF61-9810-A1851B4D5233}"/>
              </a:ext>
            </a:extLst>
          </p:cNvPr>
          <p:cNvSpPr/>
          <p:nvPr/>
        </p:nvSpPr>
        <p:spPr>
          <a:xfrm rot="10800000">
            <a:off x="7711975" y="4230362"/>
            <a:ext cx="282437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9" name="Picture 161">
            <a:extLst>
              <a:ext uri="{FF2B5EF4-FFF2-40B4-BE49-F238E27FC236}">
                <a16:creationId xmlns:a16="http://schemas.microsoft.com/office/drawing/2014/main" id="{F39FE450-83F8-5391-CFE2-0B2EAD7A947B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2937385" y="2990037"/>
            <a:ext cx="1097280" cy="1097280"/>
          </a:xfrm>
          <a:prstGeom prst="rect">
            <a:avLst/>
          </a:prstGeom>
        </p:spPr>
      </p:pic>
      <p:pic>
        <p:nvPicPr>
          <p:cNvPr id="160" name="Picture 163">
            <a:extLst>
              <a:ext uri="{FF2B5EF4-FFF2-40B4-BE49-F238E27FC236}">
                <a16:creationId xmlns:a16="http://schemas.microsoft.com/office/drawing/2014/main" id="{ED95CD39-BEE6-0145-AC16-104E194849E2}"/>
              </a:ext>
            </a:extLst>
          </p:cNvPr>
          <p:cNvPicPr>
            <a:picLocks/>
          </p:cNvPicPr>
          <p:nvPr/>
        </p:nvPicPr>
        <p:blipFill rotWithShape="1">
          <a:blip r:embed="rId13"/>
          <a:srcRect r="3798"/>
          <a:stretch/>
        </p:blipFill>
        <p:spPr>
          <a:xfrm>
            <a:off x="9683665" y="3757661"/>
            <a:ext cx="1055602" cy="1097280"/>
          </a:xfrm>
          <a:prstGeom prst="rect">
            <a:avLst/>
          </a:prstGeom>
        </p:spPr>
      </p:pic>
      <p:pic>
        <p:nvPicPr>
          <p:cNvPr id="161" name="Picture 166">
            <a:extLst>
              <a:ext uri="{FF2B5EF4-FFF2-40B4-BE49-F238E27FC236}">
                <a16:creationId xmlns:a16="http://schemas.microsoft.com/office/drawing/2014/main" id="{A7E2EF9F-B437-569F-5EF5-34098BE93B30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8134295" y="3757661"/>
            <a:ext cx="1097280" cy="1097280"/>
          </a:xfrm>
          <a:prstGeom prst="rect">
            <a:avLst/>
          </a:prstGeom>
        </p:spPr>
      </p:pic>
      <p:pic>
        <p:nvPicPr>
          <p:cNvPr id="162" name="Picture 169">
            <a:extLst>
              <a:ext uri="{FF2B5EF4-FFF2-40B4-BE49-F238E27FC236}">
                <a16:creationId xmlns:a16="http://schemas.microsoft.com/office/drawing/2014/main" id="{C4145383-E9B1-96BC-ED36-CD27FF6A444C}"/>
              </a:ext>
            </a:extLst>
          </p:cNvPr>
          <p:cNvPicPr>
            <a:picLocks/>
          </p:cNvPicPr>
          <p:nvPr/>
        </p:nvPicPr>
        <p:blipFill>
          <a:blip r:embed="rId15"/>
          <a:srcRect l="-1" r="2175"/>
          <a:stretch/>
        </p:blipFill>
        <p:spPr>
          <a:xfrm>
            <a:off x="2937385" y="1421686"/>
            <a:ext cx="1097280" cy="1097280"/>
          </a:xfrm>
          <a:prstGeom prst="rect">
            <a:avLst/>
          </a:prstGeom>
        </p:spPr>
      </p:pic>
      <p:pic>
        <p:nvPicPr>
          <p:cNvPr id="163" name="Picture 170">
            <a:extLst>
              <a:ext uri="{FF2B5EF4-FFF2-40B4-BE49-F238E27FC236}">
                <a16:creationId xmlns:a16="http://schemas.microsoft.com/office/drawing/2014/main" id="{772174AC-A812-B23E-7A16-F17DA7E3F4A5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8146639" y="1787545"/>
            <a:ext cx="1097280" cy="1097280"/>
          </a:xfrm>
          <a:prstGeom prst="rect">
            <a:avLst/>
          </a:prstGeom>
        </p:spPr>
      </p:pic>
      <p:pic>
        <p:nvPicPr>
          <p:cNvPr id="164" name="Picture 171">
            <a:extLst>
              <a:ext uri="{FF2B5EF4-FFF2-40B4-BE49-F238E27FC236}">
                <a16:creationId xmlns:a16="http://schemas.microsoft.com/office/drawing/2014/main" id="{D8BA16B1-4F94-BED3-765A-9146DF5D4EAB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9672527" y="1787545"/>
            <a:ext cx="1097280" cy="1097280"/>
          </a:xfrm>
          <a:prstGeom prst="rect">
            <a:avLst/>
          </a:prstGeom>
        </p:spPr>
      </p:pic>
      <p:pic>
        <p:nvPicPr>
          <p:cNvPr id="165" name="Picture 178">
            <a:extLst>
              <a:ext uri="{FF2B5EF4-FFF2-40B4-BE49-F238E27FC236}">
                <a16:creationId xmlns:a16="http://schemas.microsoft.com/office/drawing/2014/main" id="{9FACEEA9-8983-04A1-2E55-985EE8A8D96B}"/>
              </a:ext>
            </a:extLst>
          </p:cNvPr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6433707" y="3757661"/>
            <a:ext cx="1134530" cy="1097280"/>
          </a:xfrm>
          <a:prstGeom prst="rect">
            <a:avLst/>
          </a:prstGeom>
        </p:spPr>
      </p:pic>
      <p:sp>
        <p:nvSpPr>
          <p:cNvPr id="166" name="Right Arrow 29">
            <a:extLst>
              <a:ext uri="{FF2B5EF4-FFF2-40B4-BE49-F238E27FC236}">
                <a16:creationId xmlns:a16="http://schemas.microsoft.com/office/drawing/2014/main" id="{5CBFA6D2-6F4C-99F4-3945-2F59ECCA5CDE}"/>
              </a:ext>
            </a:extLst>
          </p:cNvPr>
          <p:cNvSpPr/>
          <p:nvPr/>
        </p:nvSpPr>
        <p:spPr>
          <a:xfrm>
            <a:off x="7813601" y="2312798"/>
            <a:ext cx="365760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81">
                <a:extLst>
                  <a:ext uri="{FF2B5EF4-FFF2-40B4-BE49-F238E27FC236}">
                    <a16:creationId xmlns:a16="http://schemas.microsoft.com/office/drawing/2014/main" id="{0D73C1DF-1214-6485-5EE5-37C5ED724EAC}"/>
                  </a:ext>
                </a:extLst>
              </p:cNvPr>
              <p:cNvSpPr txBox="1"/>
              <p:nvPr/>
            </p:nvSpPr>
            <p:spPr>
              <a:xfrm>
                <a:off x="8361341" y="1497852"/>
                <a:ext cx="519437" cy="221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𝑡𝑟𝑎𝑛𝑠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81">
                <a:extLst>
                  <a:ext uri="{FF2B5EF4-FFF2-40B4-BE49-F238E27FC236}">
                    <a16:creationId xmlns:a16="http://schemas.microsoft.com/office/drawing/2014/main" id="{0D73C1DF-1214-6485-5EE5-37C5ED724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1341" y="1497852"/>
                <a:ext cx="519437" cy="221856"/>
              </a:xfrm>
              <a:prstGeom prst="rect">
                <a:avLst/>
              </a:prstGeom>
              <a:blipFill>
                <a:blip r:embed="rId19"/>
                <a:stretch>
                  <a:fillRect l="-7143" t="-1666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82">
                <a:extLst>
                  <a:ext uri="{FF2B5EF4-FFF2-40B4-BE49-F238E27FC236}">
                    <a16:creationId xmlns:a16="http://schemas.microsoft.com/office/drawing/2014/main" id="{34EE34E6-523D-E82E-A9B4-C938D7481C7C}"/>
                  </a:ext>
                </a:extLst>
              </p:cNvPr>
              <p:cNvSpPr txBox="1"/>
              <p:nvPr/>
            </p:nvSpPr>
            <p:spPr>
              <a:xfrm>
                <a:off x="9952617" y="1485567"/>
                <a:ext cx="592085" cy="221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𝑡𝑟𝑎𝑛𝑠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8" name="TextBox 182">
                <a:extLst>
                  <a:ext uri="{FF2B5EF4-FFF2-40B4-BE49-F238E27FC236}">
                    <a16:creationId xmlns:a16="http://schemas.microsoft.com/office/drawing/2014/main" id="{34EE34E6-523D-E82E-A9B4-C938D7481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617" y="1485567"/>
                <a:ext cx="592085" cy="221856"/>
              </a:xfrm>
              <a:prstGeom prst="rect">
                <a:avLst/>
              </a:prstGeom>
              <a:blipFill>
                <a:blip r:embed="rId20"/>
                <a:stretch>
                  <a:fillRect l="-6250" t="-16667" r="-208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85">
                <a:extLst>
                  <a:ext uri="{FF2B5EF4-FFF2-40B4-BE49-F238E27FC236}">
                    <a16:creationId xmlns:a16="http://schemas.microsoft.com/office/drawing/2014/main" id="{4748FDCD-3EAB-DA44-B9AB-63CA5EE66479}"/>
                  </a:ext>
                </a:extLst>
              </p:cNvPr>
              <p:cNvSpPr txBox="1"/>
              <p:nvPr/>
            </p:nvSpPr>
            <p:spPr>
              <a:xfrm>
                <a:off x="8228408" y="3861848"/>
                <a:ext cx="583327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9" name="TextBox 185">
                <a:extLst>
                  <a:ext uri="{FF2B5EF4-FFF2-40B4-BE49-F238E27FC236}">
                    <a16:creationId xmlns:a16="http://schemas.microsoft.com/office/drawing/2014/main" id="{4748FDCD-3EAB-DA44-B9AB-63CA5EE66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408" y="3861848"/>
                <a:ext cx="583327" cy="376770"/>
              </a:xfrm>
              <a:prstGeom prst="rect">
                <a:avLst/>
              </a:prstGeom>
              <a:blipFill>
                <a:blip r:embed="rId21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Right Arrow 188">
            <a:extLst>
              <a:ext uri="{FF2B5EF4-FFF2-40B4-BE49-F238E27FC236}">
                <a16:creationId xmlns:a16="http://schemas.microsoft.com/office/drawing/2014/main" id="{C7C7203D-60FC-D79E-292F-8A9109CD758F}"/>
              </a:ext>
            </a:extLst>
          </p:cNvPr>
          <p:cNvSpPr/>
          <p:nvPr/>
        </p:nvSpPr>
        <p:spPr>
          <a:xfrm>
            <a:off x="10796446" y="2298906"/>
            <a:ext cx="365760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92">
            <a:extLst>
              <a:ext uri="{FF2B5EF4-FFF2-40B4-BE49-F238E27FC236}">
                <a16:creationId xmlns:a16="http://schemas.microsoft.com/office/drawing/2014/main" id="{5EF8D524-22D8-2836-116E-A4A27CC63D42}"/>
              </a:ext>
            </a:extLst>
          </p:cNvPr>
          <p:cNvSpPr txBox="1"/>
          <p:nvPr/>
        </p:nvSpPr>
        <p:spPr>
          <a:xfrm>
            <a:off x="7490937" y="3922352"/>
            <a:ext cx="859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172" name="Rounded Rectangle 194">
            <a:extLst>
              <a:ext uri="{FF2B5EF4-FFF2-40B4-BE49-F238E27FC236}">
                <a16:creationId xmlns:a16="http://schemas.microsoft.com/office/drawing/2014/main" id="{8B6915CD-6221-9D08-63DD-E69D8C84A068}"/>
              </a:ext>
            </a:extLst>
          </p:cNvPr>
          <p:cNvSpPr/>
          <p:nvPr/>
        </p:nvSpPr>
        <p:spPr>
          <a:xfrm>
            <a:off x="6076959" y="3749429"/>
            <a:ext cx="5135291" cy="1161992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95">
            <a:extLst>
              <a:ext uri="{FF2B5EF4-FFF2-40B4-BE49-F238E27FC236}">
                <a16:creationId xmlns:a16="http://schemas.microsoft.com/office/drawing/2014/main" id="{431A1AED-F12C-FDEF-0AAC-873C49B42C83}"/>
              </a:ext>
            </a:extLst>
          </p:cNvPr>
          <p:cNvSpPr txBox="1"/>
          <p:nvPr/>
        </p:nvSpPr>
        <p:spPr>
          <a:xfrm>
            <a:off x="8181202" y="3207071"/>
            <a:ext cx="159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Debiasing step</a:t>
            </a:r>
          </a:p>
        </p:txBody>
      </p:sp>
      <p:sp>
        <p:nvSpPr>
          <p:cNvPr id="174" name="TextBox 31">
            <a:extLst>
              <a:ext uri="{FF2B5EF4-FFF2-40B4-BE49-F238E27FC236}">
                <a16:creationId xmlns:a16="http://schemas.microsoft.com/office/drawing/2014/main" id="{06D42140-8FF5-F51D-0559-3262B4E17C83}"/>
              </a:ext>
            </a:extLst>
          </p:cNvPr>
          <p:cNvSpPr txBox="1"/>
          <p:nvPr/>
        </p:nvSpPr>
        <p:spPr>
          <a:xfrm>
            <a:off x="2814068" y="1070418"/>
            <a:ext cx="1441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Initial Estimate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89">
                <a:extLst>
                  <a:ext uri="{FF2B5EF4-FFF2-40B4-BE49-F238E27FC236}">
                    <a16:creationId xmlns:a16="http://schemas.microsoft.com/office/drawing/2014/main" id="{22FAB7CF-090F-D02F-998E-2FE0942F2FEE}"/>
                  </a:ext>
                </a:extLst>
              </p:cNvPr>
              <p:cNvSpPr txBox="1"/>
              <p:nvPr/>
            </p:nvSpPr>
            <p:spPr>
              <a:xfrm>
                <a:off x="10732311" y="1964450"/>
                <a:ext cx="29553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d&lt;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6" name="TextBox 189">
                <a:extLst>
                  <a:ext uri="{FF2B5EF4-FFF2-40B4-BE49-F238E27FC236}">
                    <a16:creationId xmlns:a16="http://schemas.microsoft.com/office/drawing/2014/main" id="{22FAB7CF-090F-D02F-998E-2FE0942F2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2311" y="1964450"/>
                <a:ext cx="2955331" cy="307777"/>
              </a:xfrm>
              <a:prstGeom prst="rect">
                <a:avLst/>
              </a:prstGeom>
              <a:blipFill>
                <a:blip r:embed="rId22"/>
                <a:stretch>
                  <a:fillRect l="-858" t="-3846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Rounded Rectangle 190">
            <a:extLst>
              <a:ext uri="{FF2B5EF4-FFF2-40B4-BE49-F238E27FC236}">
                <a16:creationId xmlns:a16="http://schemas.microsoft.com/office/drawing/2014/main" id="{501102FB-3A6E-084F-D51D-45ACA81B04AF}"/>
              </a:ext>
            </a:extLst>
          </p:cNvPr>
          <p:cNvSpPr/>
          <p:nvPr/>
        </p:nvSpPr>
        <p:spPr>
          <a:xfrm>
            <a:off x="11182970" y="2217850"/>
            <a:ext cx="644942" cy="424156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extBox 191">
            <a:extLst>
              <a:ext uri="{FF2B5EF4-FFF2-40B4-BE49-F238E27FC236}">
                <a16:creationId xmlns:a16="http://schemas.microsoft.com/office/drawing/2014/main" id="{99AD578C-7914-4E46-E2BB-2DA8824F6780}"/>
              </a:ext>
            </a:extLst>
          </p:cNvPr>
          <p:cNvSpPr txBox="1"/>
          <p:nvPr/>
        </p:nvSpPr>
        <p:spPr>
          <a:xfrm>
            <a:off x="11141562" y="2241543"/>
            <a:ext cx="859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06">
                <a:extLst>
                  <a:ext uri="{FF2B5EF4-FFF2-40B4-BE49-F238E27FC236}">
                    <a16:creationId xmlns:a16="http://schemas.microsoft.com/office/drawing/2014/main" id="{5EBDAF38-4BE9-2200-15F9-92833148C7AB}"/>
                  </a:ext>
                </a:extLst>
              </p:cNvPr>
              <p:cNvSpPr txBox="1"/>
              <p:nvPr/>
            </p:nvSpPr>
            <p:spPr>
              <a:xfrm>
                <a:off x="10380039" y="3011261"/>
                <a:ext cx="29553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d&gt;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9" name="TextBox 106">
                <a:extLst>
                  <a:ext uri="{FF2B5EF4-FFF2-40B4-BE49-F238E27FC236}">
                    <a16:creationId xmlns:a16="http://schemas.microsoft.com/office/drawing/2014/main" id="{5EBDAF38-4BE9-2200-15F9-92833148C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0039" y="3011261"/>
                <a:ext cx="2955331" cy="307777"/>
              </a:xfrm>
              <a:prstGeom prst="rect">
                <a:avLst/>
              </a:prstGeom>
              <a:blipFill>
                <a:blip r:embed="rId23"/>
                <a:stretch>
                  <a:fillRect l="-427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A4847-E522-73BD-10CC-D1827A53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11FA6F78-0034-7697-ACC8-49628F8F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9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D9B4010-5544-AA2D-B8CF-1A8EFEFA32C9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CC8D094F-566A-60CA-D708-D8CF0B66BDEC}"/>
              </a:ext>
            </a:extLst>
          </p:cNvPr>
          <p:cNvSpPr/>
          <p:nvPr/>
        </p:nvSpPr>
        <p:spPr>
          <a:xfrm>
            <a:off x="250358" y="97581"/>
            <a:ext cx="9231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Method:</a:t>
            </a:r>
            <a:r>
              <a:rPr lang="en-US" altLang="zh-CN" sz="4000" b="1" dirty="0">
                <a:latin typeface="Quattrocento Sans" panose="020B0502050000020003" pitchFamily="34" charset="0"/>
              </a:rPr>
              <a:t> Initial Estimation</a:t>
            </a:r>
            <a:r>
              <a:rPr lang="en-US" altLang="zh-CN" sz="4000" dirty="0">
                <a:latin typeface="Quattrocento Sans" panose="020B0502050000020003" pitchFamily="34" charset="0"/>
              </a:rPr>
              <a:t> 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Quattrocento Sans" panose="020B0502050000020003" pitchFamily="34" charset="0"/>
              <a:ea typeface="微软雅黑" panose="020B050302020402020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1134370-950D-AC84-8A0E-0374E09C0BCB}"/>
                  </a:ext>
                </a:extLst>
              </p:cNvPr>
              <p:cNvSpPr txBox="1"/>
              <p:nvPr/>
            </p:nvSpPr>
            <p:spPr>
              <a:xfrm>
                <a:off x="502598" y="1148934"/>
                <a:ext cx="6683116" cy="523220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ts val="3800"/>
                  </a:lnSpc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Initial Graphon Estimation</a:t>
                </a:r>
                <a:endParaRPr lang="zh-CN" altLang="zh-CN" sz="2200" b="1" dirty="0">
                  <a:latin typeface="Quattrocento Sans" panose="020B0502050000020003" pitchFamily="34" charset="0"/>
                </a:endParaRPr>
              </a:p>
              <a:p>
                <a:pPr marL="342900" lvl="0" indent="-342900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Input: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observed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and target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networks</a:t>
                </a:r>
              </a:p>
              <a:p>
                <a:pPr marL="342900" lvl="0" indent="-342900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Apply Neighborhood Smoothing (NS)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→ obtain initial probability matrices, denoise adjacency (reduce Bernoulli noise), capture coarse structure</a:t>
                </a:r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pPr>
                  <a:lnSpc>
                    <a:spcPts val="38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ar-AE" altLang="zh-CN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altLang="zh-CN" sz="2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ar-AE" altLang="zh-CN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ar-AE" altLang="zh-CN" sz="2200" i="1">
                              <a:latin typeface="Cambria Math" panose="02040503050406030204" pitchFamily="18" charset="0"/>
                            </a:rPr>
                            <m:t>𝑖𝑛𝑖</m:t>
                          </m:r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ar-AE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ar-AE" altLang="zh-CN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altLang="zh-CN" sz="2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ar-AE" altLang="zh-CN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ar-AE" altLang="zh-CN" sz="2200" i="1">
                              <a:latin typeface="Cambria Math" panose="02040503050406030204" pitchFamily="18" charset="0"/>
                            </a:rPr>
                            <m:t>𝑖𝑛𝑖</m:t>
                          </m:r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d>
                            <m:d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zh-CN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endParaRPr lang="en-US" altLang="zh-CN" sz="2200" b="1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Advantage: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 alignment via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ar-AE" altLang="zh-CN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sz="220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ar-AE" altLang="zh-CN" sz="220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ar-AE" altLang="zh-CN" sz="2200">
                            <a:latin typeface="Cambria Math" panose="02040503050406030204" pitchFamily="18" charset="0"/>
                          </a:rPr>
                          <m:t>𝑖𝑛𝑖</m:t>
                        </m:r>
                      </m:sup>
                    </m:sSubSup>
                    <m:r>
                      <a:rPr lang="ar-AE" altLang="zh-CN" sz="220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ar-AE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ar-AE" altLang="zh-CN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altLang="zh-CN" sz="220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ar-AE" altLang="zh-CN" sz="22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ar-AE" altLang="zh-CN" sz="2200">
                            <a:latin typeface="Cambria Math" panose="02040503050406030204" pitchFamily="18" charset="0"/>
                          </a:rPr>
                          <m:t>𝑖𝑛𝑖</m:t>
                        </m:r>
                      </m:sup>
                    </m:sSubSup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much cleaner than raw adjacency; closer to ground truth</a:t>
                </a:r>
              </a:p>
              <a:p>
                <a:pPr marL="342900" indent="-342900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Limitation: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target estimate less accurate due to small size</a:t>
                </a:r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pPr>
                  <a:lnSpc>
                    <a:spcPts val="3800"/>
                  </a:lnSpc>
                </a:pPr>
                <a:endParaRPr lang="en-US" altLang="zh-CN" sz="2200" dirty="0">
                  <a:latin typeface="Quattrocento Sans" panose="020B0502050000020003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1134370-950D-AC84-8A0E-0374E09C0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98" y="1148934"/>
                <a:ext cx="6683116" cy="5232207"/>
              </a:xfrm>
              <a:prstGeom prst="rect">
                <a:avLst/>
              </a:prstGeom>
              <a:blipFill>
                <a:blip r:embed="rId3"/>
                <a:stretch>
                  <a:fillRect l="-1139" b="-4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E5EBE206-2C04-EACC-A336-9BE33D920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10" name="Picture 2" descr="Press">
            <a:extLst>
              <a:ext uri="{FF2B5EF4-FFF2-40B4-BE49-F238E27FC236}">
                <a16:creationId xmlns:a16="http://schemas.microsoft.com/office/drawing/2014/main" id="{F33218A2-CF8D-7971-3F3E-EBB105DDF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5">
            <a:extLst>
              <a:ext uri="{FF2B5EF4-FFF2-40B4-BE49-F238E27FC236}">
                <a16:creationId xmlns:a16="http://schemas.microsoft.com/office/drawing/2014/main" id="{E836F92D-3ED7-E29F-28CE-F3560B584D2D}"/>
              </a:ext>
            </a:extLst>
          </p:cNvPr>
          <p:cNvSpPr txBox="1"/>
          <p:nvPr/>
        </p:nvSpPr>
        <p:spPr>
          <a:xfrm>
            <a:off x="7676131" y="1500538"/>
            <a:ext cx="1913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 Network</a:t>
            </a:r>
          </a:p>
        </p:txBody>
      </p:sp>
      <p:sp>
        <p:nvSpPr>
          <p:cNvPr id="133" name="Rectangle 87">
            <a:extLst>
              <a:ext uri="{FF2B5EF4-FFF2-40B4-BE49-F238E27FC236}">
                <a16:creationId xmlns:a16="http://schemas.microsoft.com/office/drawing/2014/main" id="{AE2F34DD-2DD6-55F7-3141-FB73A79AF49C}"/>
              </a:ext>
            </a:extLst>
          </p:cNvPr>
          <p:cNvSpPr/>
          <p:nvPr/>
        </p:nvSpPr>
        <p:spPr>
          <a:xfrm>
            <a:off x="7515223" y="1228126"/>
            <a:ext cx="1757381" cy="259686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89">
            <a:extLst>
              <a:ext uri="{FF2B5EF4-FFF2-40B4-BE49-F238E27FC236}">
                <a16:creationId xmlns:a16="http://schemas.microsoft.com/office/drawing/2014/main" id="{F1883F75-7C76-31B7-E6BF-8975F4135E42}"/>
              </a:ext>
            </a:extLst>
          </p:cNvPr>
          <p:cNvSpPr/>
          <p:nvPr/>
        </p:nvSpPr>
        <p:spPr>
          <a:xfrm>
            <a:off x="10113152" y="1212586"/>
            <a:ext cx="1289513" cy="259686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4">
            <a:extLst>
              <a:ext uri="{FF2B5EF4-FFF2-40B4-BE49-F238E27FC236}">
                <a16:creationId xmlns:a16="http://schemas.microsoft.com/office/drawing/2014/main" id="{4A79B3EA-5387-CCCC-49FC-B9076D7EB485}"/>
              </a:ext>
            </a:extLst>
          </p:cNvPr>
          <p:cNvSpPr txBox="1"/>
          <p:nvPr/>
        </p:nvSpPr>
        <p:spPr>
          <a:xfrm>
            <a:off x="7840742" y="3134860"/>
            <a:ext cx="1416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Target Network</a:t>
            </a:r>
          </a:p>
        </p:txBody>
      </p:sp>
      <p:sp>
        <p:nvSpPr>
          <p:cNvPr id="138" name="Right Arrow 6">
            <a:extLst>
              <a:ext uri="{FF2B5EF4-FFF2-40B4-BE49-F238E27FC236}">
                <a16:creationId xmlns:a16="http://schemas.microsoft.com/office/drawing/2014/main" id="{68BA3998-2D51-80B0-9A58-E271D9B1E41A}"/>
              </a:ext>
            </a:extLst>
          </p:cNvPr>
          <p:cNvSpPr/>
          <p:nvPr/>
        </p:nvSpPr>
        <p:spPr>
          <a:xfrm>
            <a:off x="9589892" y="1964773"/>
            <a:ext cx="436870" cy="30359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ight Arrow 9">
            <a:extLst>
              <a:ext uri="{FF2B5EF4-FFF2-40B4-BE49-F238E27FC236}">
                <a16:creationId xmlns:a16="http://schemas.microsoft.com/office/drawing/2014/main" id="{4B5ED262-4D2C-4792-93B4-ADC7D1838CD0}"/>
              </a:ext>
            </a:extLst>
          </p:cNvPr>
          <p:cNvSpPr/>
          <p:nvPr/>
        </p:nvSpPr>
        <p:spPr>
          <a:xfrm>
            <a:off x="9589892" y="3600934"/>
            <a:ext cx="490417" cy="307777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31">
            <a:extLst>
              <a:ext uri="{FF2B5EF4-FFF2-40B4-BE49-F238E27FC236}">
                <a16:creationId xmlns:a16="http://schemas.microsoft.com/office/drawing/2014/main" id="{8416D0DF-9142-A5A9-323B-3908254EF838}"/>
              </a:ext>
            </a:extLst>
          </p:cNvPr>
          <p:cNvSpPr txBox="1"/>
          <p:nvPr/>
        </p:nvSpPr>
        <p:spPr>
          <a:xfrm>
            <a:off x="10084258" y="1188815"/>
            <a:ext cx="1722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Initial Estimate</a:t>
            </a:r>
          </a:p>
        </p:txBody>
      </p:sp>
      <p:pic>
        <p:nvPicPr>
          <p:cNvPr id="151" name="Picture 100">
            <a:extLst>
              <a:ext uri="{FF2B5EF4-FFF2-40B4-BE49-F238E27FC236}">
                <a16:creationId xmlns:a16="http://schemas.microsoft.com/office/drawing/2014/main" id="{A03A7695-EA6A-62A9-AF72-06F3AF1F0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416" y="3397626"/>
            <a:ext cx="1773275" cy="1276758"/>
          </a:xfrm>
          <a:prstGeom prst="rect">
            <a:avLst/>
          </a:prstGeom>
        </p:spPr>
      </p:pic>
      <p:pic>
        <p:nvPicPr>
          <p:cNvPr id="152" name="Picture 103">
            <a:extLst>
              <a:ext uri="{FF2B5EF4-FFF2-40B4-BE49-F238E27FC236}">
                <a16:creationId xmlns:a16="http://schemas.microsoft.com/office/drawing/2014/main" id="{92111AAE-AF1E-821E-1DD3-DB8C93B351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6354" y="1747602"/>
            <a:ext cx="2048823" cy="1348306"/>
          </a:xfrm>
          <a:prstGeom prst="rect">
            <a:avLst/>
          </a:prstGeom>
        </p:spPr>
      </p:pic>
      <p:pic>
        <p:nvPicPr>
          <p:cNvPr id="159" name="Picture 161">
            <a:extLst>
              <a:ext uri="{FF2B5EF4-FFF2-40B4-BE49-F238E27FC236}">
                <a16:creationId xmlns:a16="http://schemas.microsoft.com/office/drawing/2014/main" id="{8B860A54-D7C7-CB7E-9B69-7A646D6A19C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10077065" y="3126659"/>
            <a:ext cx="1416186" cy="1276758"/>
          </a:xfrm>
          <a:prstGeom prst="rect">
            <a:avLst/>
          </a:prstGeom>
        </p:spPr>
      </p:pic>
      <p:pic>
        <p:nvPicPr>
          <p:cNvPr id="162" name="Picture 169">
            <a:extLst>
              <a:ext uri="{FF2B5EF4-FFF2-40B4-BE49-F238E27FC236}">
                <a16:creationId xmlns:a16="http://schemas.microsoft.com/office/drawing/2014/main" id="{825C2B1F-3E0E-4196-7361-431640F55B90}"/>
              </a:ext>
            </a:extLst>
          </p:cNvPr>
          <p:cNvPicPr>
            <a:picLocks/>
          </p:cNvPicPr>
          <p:nvPr/>
        </p:nvPicPr>
        <p:blipFill>
          <a:blip r:embed="rId9"/>
          <a:srcRect l="-1" r="2175"/>
          <a:stretch/>
        </p:blipFill>
        <p:spPr>
          <a:xfrm>
            <a:off x="10080309" y="1662610"/>
            <a:ext cx="1412942" cy="1195555"/>
          </a:xfrm>
          <a:prstGeom prst="rect">
            <a:avLst/>
          </a:prstGeom>
        </p:spPr>
      </p:pic>
      <p:sp>
        <p:nvSpPr>
          <p:cNvPr id="4" name="TextBox 32">
            <a:extLst>
              <a:ext uri="{FF2B5EF4-FFF2-40B4-BE49-F238E27FC236}">
                <a16:creationId xmlns:a16="http://schemas.microsoft.com/office/drawing/2014/main" id="{3206479C-0DE7-2107-05D8-C883C101C62E}"/>
              </a:ext>
            </a:extLst>
          </p:cNvPr>
          <p:cNvSpPr txBox="1"/>
          <p:nvPr/>
        </p:nvSpPr>
        <p:spPr>
          <a:xfrm>
            <a:off x="7668187" y="1217836"/>
            <a:ext cx="2257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Original Networks</a:t>
            </a: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58C1051E-263C-E5C6-570F-2D3F68F95EA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7291"/>
          <a:stretch>
            <a:fillRect/>
          </a:stretch>
        </p:blipFill>
        <p:spPr>
          <a:xfrm>
            <a:off x="7335989" y="4993662"/>
            <a:ext cx="1417395" cy="16348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0ED77DC-3D74-3765-9D68-C5830F509BB1}"/>
              </a:ext>
            </a:extLst>
          </p:cNvPr>
          <p:cNvSpPr txBox="1"/>
          <p:nvPr/>
        </p:nvSpPr>
        <p:spPr>
          <a:xfrm>
            <a:off x="7404357" y="46057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Quattrocento Sans" panose="020B0502050000020003" pitchFamily="34" charset="0"/>
              </a:rPr>
              <a:t>(a) </a:t>
            </a:r>
            <a:r>
              <a:rPr lang="zh-CN" altLang="en-US" sz="1200" dirty="0">
                <a:latin typeface="Quattrocento Sans" panose="020B0502050000020003" pitchFamily="34" charset="0"/>
              </a:rPr>
              <a:t>Adjacency-</a:t>
            </a:r>
            <a:endParaRPr lang="en-US" altLang="zh-CN" sz="1200" dirty="0">
              <a:latin typeface="Quattrocento Sans" panose="020B0502050000020003" pitchFamily="34" charset="0"/>
            </a:endParaRPr>
          </a:p>
          <a:p>
            <a:r>
              <a:rPr lang="zh-CN" altLang="en-US" sz="1200" dirty="0">
                <a:latin typeface="Quattrocento Sans" panose="020B0502050000020003" pitchFamily="34" charset="0"/>
              </a:rPr>
              <a:t>based </a:t>
            </a:r>
            <a:r>
              <a:rPr lang="en-US" altLang="zh-CN" sz="1200" dirty="0">
                <a:latin typeface="Quattrocento Sans" panose="020B0502050000020003" pitchFamily="34" charset="0"/>
              </a:rPr>
              <a:t>a</a:t>
            </a:r>
            <a:r>
              <a:rPr lang="zh-CN" altLang="en-US" sz="1200" dirty="0">
                <a:latin typeface="Quattrocento Sans" panose="020B0502050000020003" pitchFamily="34" charset="0"/>
              </a:rPr>
              <a:t>lignment</a:t>
            </a:r>
          </a:p>
        </p:txBody>
      </p:sp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56FF0889-1297-0750-7E75-38F2488593B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50916"/>
          <a:stretch>
            <a:fillRect/>
          </a:stretch>
        </p:blipFill>
        <p:spPr>
          <a:xfrm>
            <a:off x="8823947" y="4979024"/>
            <a:ext cx="1417395" cy="1634832"/>
          </a:xfrm>
          <a:prstGeom prst="rect">
            <a:avLst/>
          </a:prstGeom>
        </p:spPr>
      </p:pic>
      <p:pic>
        <p:nvPicPr>
          <p:cNvPr id="13" name="图片 12" descr="图片包含 图表&#10;&#10;AI 生成的内容可能不正确。">
            <a:extLst>
              <a:ext uri="{FF2B5EF4-FFF2-40B4-BE49-F238E27FC236}">
                <a16:creationId xmlns:a16="http://schemas.microsoft.com/office/drawing/2014/main" id="{F0A1A3A4-D7D6-4C2E-D1C8-DA62748372A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18678"/>
          <a:stretch>
            <a:fillRect/>
          </a:stretch>
        </p:blipFill>
        <p:spPr>
          <a:xfrm>
            <a:off x="10254350" y="4928971"/>
            <a:ext cx="1417396" cy="169952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E581290-796A-673C-566A-E0E53E840CE5}"/>
              </a:ext>
            </a:extLst>
          </p:cNvPr>
          <p:cNvSpPr txBox="1"/>
          <p:nvPr/>
        </p:nvSpPr>
        <p:spPr>
          <a:xfrm>
            <a:off x="8785055" y="4604799"/>
            <a:ext cx="1457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Quattrocento Sans" panose="020B0502050000020003" pitchFamily="34" charset="0"/>
              </a:rPr>
              <a:t>(b) </a:t>
            </a:r>
            <a:r>
              <a:rPr lang="zh-CN" altLang="en-US" sz="1200" dirty="0">
                <a:latin typeface="Quattrocento Sans" panose="020B0502050000020003" pitchFamily="34" charset="0"/>
              </a:rPr>
              <a:t>Initialestimate-</a:t>
            </a:r>
            <a:endParaRPr lang="en-US" altLang="zh-CN" sz="1200" dirty="0">
              <a:latin typeface="Quattrocento Sans" panose="020B0502050000020003" pitchFamily="34" charset="0"/>
            </a:endParaRPr>
          </a:p>
          <a:p>
            <a:r>
              <a:rPr lang="zh-CN" altLang="en-US" sz="1200" dirty="0">
                <a:latin typeface="Quattrocento Sans" panose="020B0502050000020003" pitchFamily="34" charset="0"/>
              </a:rPr>
              <a:t>based alignment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E10CF0-40BA-5523-8D8C-EA279DD84BF7}"/>
              </a:ext>
            </a:extLst>
          </p:cNvPr>
          <p:cNvSpPr txBox="1"/>
          <p:nvPr/>
        </p:nvSpPr>
        <p:spPr>
          <a:xfrm>
            <a:off x="10403637" y="4590258"/>
            <a:ext cx="1591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Quattrocento Sans" panose="020B0502050000020003" pitchFamily="34" charset="0"/>
              </a:rPr>
              <a:t>(c) </a:t>
            </a:r>
            <a:r>
              <a:rPr lang="zh-CN" altLang="en-US" sz="1200" dirty="0">
                <a:latin typeface="Quattrocento Sans" panose="020B0502050000020003" pitchFamily="34" charset="0"/>
              </a:rPr>
              <a:t>Oracle </a:t>
            </a:r>
            <a:endParaRPr lang="en-US" altLang="zh-CN" sz="1200" dirty="0">
              <a:latin typeface="Quattrocento Sans" panose="020B0502050000020003" pitchFamily="34" charset="0"/>
            </a:endParaRPr>
          </a:p>
          <a:p>
            <a:r>
              <a:rPr lang="zh-CN" altLang="en-US" sz="1200" dirty="0">
                <a:latin typeface="Quattrocento Sans" panose="020B0502050000020003" pitchFamily="34" charset="0"/>
              </a:rPr>
              <a:t>alignment</a:t>
            </a:r>
          </a:p>
        </p:txBody>
      </p:sp>
    </p:spTree>
    <p:extLst>
      <p:ext uri="{BB962C8B-B14F-4D97-AF65-F5344CB8AC3E}">
        <p14:creationId xmlns:p14="http://schemas.microsoft.com/office/powerpoint/2010/main" val="384804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68E8-305B-6638-BC65-6327E9AA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170">
            <a:extLst>
              <a:ext uri="{FF2B5EF4-FFF2-40B4-BE49-F238E27FC236}">
                <a16:creationId xmlns:a16="http://schemas.microsoft.com/office/drawing/2014/main" id="{C0C65A37-DE4A-3716-755D-870737F9689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611" y="3982176"/>
            <a:ext cx="1097280" cy="1097280"/>
          </a:xfrm>
          <a:prstGeom prst="rect">
            <a:avLst/>
          </a:prstGeom>
        </p:spPr>
      </p:pic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12B70319-DBE3-2AB2-37FC-528267B4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0577F11-FC2C-8489-BBFC-A8C670707878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0E78937-AD1E-F085-45E7-470D97CCE46A}"/>
              </a:ext>
            </a:extLst>
          </p:cNvPr>
          <p:cNvSpPr/>
          <p:nvPr/>
        </p:nvSpPr>
        <p:spPr>
          <a:xfrm>
            <a:off x="250358" y="97581"/>
            <a:ext cx="9231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Method:</a:t>
            </a:r>
            <a:r>
              <a:rPr lang="en-US" altLang="zh-CN" sz="4000" b="1" dirty="0"/>
              <a:t> </a:t>
            </a:r>
            <a:r>
              <a:rPr lang="en-US" altLang="zh-CN" sz="4000" b="1" dirty="0">
                <a:latin typeface="Quattrocento Sans" panose="020B0502050000020003" pitchFamily="34" charset="0"/>
              </a:rPr>
              <a:t>Transferring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Quattrocento Sans" panose="020B0502050000020003" pitchFamily="34" charset="0"/>
              <a:ea typeface="微软雅黑" panose="020B050302020402020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756D4C-EBD9-0D8C-55E9-3E7ECB1A9E08}"/>
              </a:ext>
            </a:extLst>
          </p:cNvPr>
          <p:cNvSpPr txBox="1"/>
          <p:nvPr/>
        </p:nvSpPr>
        <p:spPr>
          <a:xfrm>
            <a:off x="378622" y="874221"/>
            <a:ext cx="11142035" cy="607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3800"/>
              </a:lnSpc>
              <a:buNone/>
            </a:pPr>
            <a:r>
              <a:rPr lang="en-US" altLang="zh-CN" sz="2200" b="1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Transferring Step: </a:t>
            </a: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Align source and target graphs, transfer structure into target latent space</a:t>
            </a:r>
          </a:p>
          <a:p>
            <a:pPr marL="457200" indent="-457200">
              <a:lnSpc>
                <a:spcPts val="3800"/>
              </a:lnSpc>
              <a:buFont typeface="Arial" panose="020B0604020202020204" pitchFamily="34" charset="0"/>
              <a:buChar char="•"/>
            </a:pPr>
            <a:endParaRPr lang="zh-CN" altLang="en-US" sz="2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C92387-9740-2A95-1709-817917F60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10" name="Picture 2" descr="Press">
            <a:extLst>
              <a:ext uri="{FF2B5EF4-FFF2-40B4-BE49-F238E27FC236}">
                <a16:creationId xmlns:a16="http://schemas.microsoft.com/office/drawing/2014/main" id="{210C3C8C-023E-C33C-C867-90D76D932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5">
            <a:extLst>
              <a:ext uri="{FF2B5EF4-FFF2-40B4-BE49-F238E27FC236}">
                <a16:creationId xmlns:a16="http://schemas.microsoft.com/office/drawing/2014/main" id="{6D20F14F-32FA-1C07-4B93-FCDE773471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5307" y="1718311"/>
            <a:ext cx="1309731" cy="1671037"/>
          </a:xfrm>
          <a:prstGeom prst="rect">
            <a:avLst/>
          </a:prstGeom>
        </p:spPr>
      </p:pic>
      <p:grpSp>
        <p:nvGrpSpPr>
          <p:cNvPr id="20" name="Group 95">
            <a:extLst>
              <a:ext uri="{FF2B5EF4-FFF2-40B4-BE49-F238E27FC236}">
                <a16:creationId xmlns:a16="http://schemas.microsoft.com/office/drawing/2014/main" id="{FF343332-40CD-B75A-361A-34612BCEE686}"/>
              </a:ext>
            </a:extLst>
          </p:cNvPr>
          <p:cNvGrpSpPr/>
          <p:nvPr/>
        </p:nvGrpSpPr>
        <p:grpSpPr>
          <a:xfrm>
            <a:off x="10141807" y="5348544"/>
            <a:ext cx="1249506" cy="307777"/>
            <a:chOff x="10043038" y="5849489"/>
            <a:chExt cx="1249506" cy="307777"/>
          </a:xfrm>
        </p:grpSpPr>
        <p:sp>
          <p:nvSpPr>
            <p:cNvPr id="21" name="Rectangle 93">
              <a:extLst>
                <a:ext uri="{FF2B5EF4-FFF2-40B4-BE49-F238E27FC236}">
                  <a16:creationId xmlns:a16="http://schemas.microsoft.com/office/drawing/2014/main" id="{E8BDC3F4-95AB-5616-8F51-9D3BAC07010C}"/>
                </a:ext>
              </a:extLst>
            </p:cNvPr>
            <p:cNvSpPr/>
            <p:nvPr/>
          </p:nvSpPr>
          <p:spPr>
            <a:xfrm>
              <a:off x="10043038" y="5849489"/>
              <a:ext cx="1229614" cy="259686"/>
            </a:xfrm>
            <a:prstGeom prst="rect">
              <a:avLst/>
            </a:prstGeom>
            <a:solidFill>
              <a:srgbClr val="FBDB83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94">
              <a:extLst>
                <a:ext uri="{FF2B5EF4-FFF2-40B4-BE49-F238E27FC236}">
                  <a16:creationId xmlns:a16="http://schemas.microsoft.com/office/drawing/2014/main" id="{7E6611F0-AE78-364C-9692-478B25A11A34}"/>
                </a:ext>
              </a:extLst>
            </p:cNvPr>
            <p:cNvSpPr txBox="1"/>
            <p:nvPr/>
          </p:nvSpPr>
          <p:spPr>
            <a:xfrm>
              <a:off x="10202196" y="5849489"/>
              <a:ext cx="10903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Smoothing</a:t>
              </a:r>
            </a:p>
          </p:txBody>
        </p:sp>
      </p:grpSp>
      <p:pic>
        <p:nvPicPr>
          <p:cNvPr id="32" name="Picture 171">
            <a:extLst>
              <a:ext uri="{FF2B5EF4-FFF2-40B4-BE49-F238E27FC236}">
                <a16:creationId xmlns:a16="http://schemas.microsoft.com/office/drawing/2014/main" id="{520EAB7F-F671-0F0F-8F4E-D6875419C9BB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208764" y="5620986"/>
            <a:ext cx="1097280" cy="10972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181">
                <a:extLst>
                  <a:ext uri="{FF2B5EF4-FFF2-40B4-BE49-F238E27FC236}">
                    <a16:creationId xmlns:a16="http://schemas.microsoft.com/office/drawing/2014/main" id="{1CAAE125-6DDA-6222-1B6A-68148A8521D3}"/>
                  </a:ext>
                </a:extLst>
              </p:cNvPr>
              <p:cNvSpPr txBox="1"/>
              <p:nvPr/>
            </p:nvSpPr>
            <p:spPr>
              <a:xfrm>
                <a:off x="10418929" y="4169092"/>
                <a:ext cx="522643" cy="221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𝑡𝑟𝑎𝑛𝑠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181">
                <a:extLst>
                  <a:ext uri="{FF2B5EF4-FFF2-40B4-BE49-F238E27FC236}">
                    <a16:creationId xmlns:a16="http://schemas.microsoft.com/office/drawing/2014/main" id="{1CAAE125-6DDA-6222-1B6A-68148A852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929" y="4169092"/>
                <a:ext cx="522643" cy="221856"/>
              </a:xfrm>
              <a:prstGeom prst="rect">
                <a:avLst/>
              </a:prstGeom>
              <a:blipFill>
                <a:blip r:embed="rId8"/>
                <a:stretch>
                  <a:fillRect l="-7143" t="-16667" r="-238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182">
                <a:extLst>
                  <a:ext uri="{FF2B5EF4-FFF2-40B4-BE49-F238E27FC236}">
                    <a16:creationId xmlns:a16="http://schemas.microsoft.com/office/drawing/2014/main" id="{775B2219-75E9-CD8C-EACE-F8D61CC37836}"/>
                  </a:ext>
                </a:extLst>
              </p:cNvPr>
              <p:cNvSpPr txBox="1"/>
              <p:nvPr/>
            </p:nvSpPr>
            <p:spPr>
              <a:xfrm>
                <a:off x="10461361" y="5783998"/>
                <a:ext cx="592085" cy="221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𝑡𝑟𝑎𝑛𝑠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5" name="TextBox 182">
                <a:extLst>
                  <a:ext uri="{FF2B5EF4-FFF2-40B4-BE49-F238E27FC236}">
                    <a16:creationId xmlns:a16="http://schemas.microsoft.com/office/drawing/2014/main" id="{775B2219-75E9-CD8C-EACE-F8D61CC37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1361" y="5783998"/>
                <a:ext cx="592085" cy="221856"/>
              </a:xfrm>
              <a:prstGeom prst="rect">
                <a:avLst/>
              </a:prstGeom>
              <a:blipFill>
                <a:blip r:embed="rId9"/>
                <a:stretch>
                  <a:fillRect l="-6250" t="-16667" r="-208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90">
            <a:extLst>
              <a:ext uri="{FF2B5EF4-FFF2-40B4-BE49-F238E27FC236}">
                <a16:creationId xmlns:a16="http://schemas.microsoft.com/office/drawing/2014/main" id="{C6607B3C-F550-9CEF-E194-ABDFD8BC2D5D}"/>
              </a:ext>
            </a:extLst>
          </p:cNvPr>
          <p:cNvSpPr/>
          <p:nvPr/>
        </p:nvSpPr>
        <p:spPr>
          <a:xfrm>
            <a:off x="9899686" y="1440173"/>
            <a:ext cx="1491627" cy="222437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AF2EC717-8CA3-C99E-AA30-CAC293F5222F}"/>
              </a:ext>
            </a:extLst>
          </p:cNvPr>
          <p:cNvSpPr txBox="1"/>
          <p:nvPr/>
        </p:nvSpPr>
        <p:spPr>
          <a:xfrm>
            <a:off x="9899686" y="1414905"/>
            <a:ext cx="1620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Optimal Transport</a:t>
            </a:r>
          </a:p>
        </p:txBody>
      </p:sp>
      <p:sp>
        <p:nvSpPr>
          <p:cNvPr id="63" name="Rectangle 93">
            <a:extLst>
              <a:ext uri="{FF2B5EF4-FFF2-40B4-BE49-F238E27FC236}">
                <a16:creationId xmlns:a16="http://schemas.microsoft.com/office/drawing/2014/main" id="{EFF17D18-1D18-9E4B-4247-B12F19975327}"/>
              </a:ext>
            </a:extLst>
          </p:cNvPr>
          <p:cNvSpPr/>
          <p:nvPr/>
        </p:nvSpPr>
        <p:spPr>
          <a:xfrm>
            <a:off x="10076092" y="3803314"/>
            <a:ext cx="1229614" cy="259686"/>
          </a:xfrm>
          <a:prstGeom prst="rect">
            <a:avLst/>
          </a:prstGeom>
          <a:solidFill>
            <a:srgbClr val="FBDB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9489506D-98B5-FED2-E47A-6BCA861F069E}"/>
                  </a:ext>
                </a:extLst>
              </p:cNvPr>
              <p:cNvSpPr txBox="1"/>
              <p:nvPr/>
            </p:nvSpPr>
            <p:spPr>
              <a:xfrm>
                <a:off x="364809" y="1447608"/>
                <a:ext cx="9514204" cy="498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Optimal Transport</a:t>
                </a: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Compute alignment matrix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200" i="1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r>
                      <a:rPr lang="en-US" altLang="zh-CN" sz="22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using </a:t>
                </a: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GW / EGW</a:t>
                </a: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  <m:t>𝑖𝑛𝑖</m:t>
                            </m:r>
                          </m:sup>
                        </m:sSubSup>
                      </m:e>
                    </m:acc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zh-CN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  <m:t>𝑖𝑛𝑖</m:t>
                            </m:r>
                          </m:sup>
                        </m:sSubSup>
                      </m:e>
                    </m:acc>
                  </m:oMath>
                </a14:m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1200150" lvl="2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GW → sharper alignment; </a:t>
                </a:r>
              </a:p>
              <a:p>
                <a:pPr marL="1200150" lvl="2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EGW → more efficient for large graphs</a:t>
                </a:r>
              </a:p>
              <a:p>
                <a:pPr marL="285750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Normalization</a:t>
                </a: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: </a:t>
                </a:r>
              </a:p>
              <a:p>
                <a:pPr marL="742950" lvl="1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Column-normalize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  <m:r>
                      <a:rPr lang="en-US" altLang="zh-CN" sz="22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acc>
                      <m:accPr>
                        <m:chr m:val="̃"/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2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acc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  so each column sums to 1</a:t>
                </a:r>
              </a:p>
              <a:p>
                <a:pPr marL="742950" lvl="1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sz="2200" i="1" dirty="0" err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200" dirty="0"/>
                  <a:t> = correspondence strength between source node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200" dirty="0"/>
                  <a:t> and target node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Projection &amp; Refinement</a:t>
                </a: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Transfer: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</m:sup>
                        </m:sSubSup>
                      </m:e>
                    </m:acc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acc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𝑖𝑛𝑖</m:t>
                            </m:r>
                          </m:sup>
                        </m:sSubSup>
                      </m:e>
                    </m:acc>
                    <m:acc>
                      <m:accPr>
                        <m:chr m:val="̃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acc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zh-CN" sz="2200" b="0" dirty="0">
                  <a:latin typeface="Quattrocento Sans" panose="020B0502050000020003" pitchFamily="34" charset="0"/>
                </a:endParaRPr>
              </a:p>
              <a:p>
                <a:pPr marL="742950" lvl="1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Refine (Smoothing): apply neighborhood smoothing →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Ensures transferred estimator is </a:t>
                </a: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aligned + smooth</a:t>
                </a: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9489506D-98B5-FED2-E47A-6BCA861F0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09" y="1447608"/>
                <a:ext cx="9514204" cy="4989571"/>
              </a:xfrm>
              <a:prstGeom prst="rect">
                <a:avLst/>
              </a:prstGeom>
              <a:blipFill>
                <a:blip r:embed="rId10"/>
                <a:stretch>
                  <a:fillRect l="-666" b="-15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Right Arrow 77">
            <a:extLst>
              <a:ext uri="{FF2B5EF4-FFF2-40B4-BE49-F238E27FC236}">
                <a16:creationId xmlns:a16="http://schemas.microsoft.com/office/drawing/2014/main" id="{B7C595E9-2765-5EBD-1F14-69D54F494C2E}"/>
              </a:ext>
            </a:extLst>
          </p:cNvPr>
          <p:cNvSpPr/>
          <p:nvPr/>
        </p:nvSpPr>
        <p:spPr>
          <a:xfrm rot="5400000">
            <a:off x="10471875" y="3443295"/>
            <a:ext cx="399969" cy="274320"/>
          </a:xfrm>
          <a:prstGeom prst="rightArrow">
            <a:avLst>
              <a:gd name="adj1" fmla="val 50001"/>
              <a:gd name="adj2" fmla="val 50000"/>
            </a:avLst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40">
            <a:extLst>
              <a:ext uri="{FF2B5EF4-FFF2-40B4-BE49-F238E27FC236}">
                <a16:creationId xmlns:a16="http://schemas.microsoft.com/office/drawing/2014/main" id="{0AC68875-1948-3AF2-AE52-0BBD4B76F98A}"/>
              </a:ext>
            </a:extLst>
          </p:cNvPr>
          <p:cNvSpPr txBox="1"/>
          <p:nvPr/>
        </p:nvSpPr>
        <p:spPr>
          <a:xfrm>
            <a:off x="10107233" y="3790772"/>
            <a:ext cx="109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Transferring</a:t>
            </a:r>
          </a:p>
        </p:txBody>
      </p:sp>
      <p:sp>
        <p:nvSpPr>
          <p:cNvPr id="135" name="Right Arrow 77">
            <a:extLst>
              <a:ext uri="{FF2B5EF4-FFF2-40B4-BE49-F238E27FC236}">
                <a16:creationId xmlns:a16="http://schemas.microsoft.com/office/drawing/2014/main" id="{7DF43746-C66C-A62D-9838-1943E53942F1}"/>
              </a:ext>
            </a:extLst>
          </p:cNvPr>
          <p:cNvSpPr/>
          <p:nvPr/>
        </p:nvSpPr>
        <p:spPr>
          <a:xfrm rot="5400000">
            <a:off x="10506465" y="5066659"/>
            <a:ext cx="346782" cy="288092"/>
          </a:xfrm>
          <a:prstGeom prst="rightArrow">
            <a:avLst>
              <a:gd name="adj1" fmla="val 50001"/>
              <a:gd name="adj2" fmla="val 50000"/>
            </a:avLst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15FE-36DB-1504-FE9D-649A3BBE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E29D95CD-F1E2-063F-5844-11E6FC72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11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421AFB5-8A72-60EB-AA90-F415F5A8F121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47779C2-3C48-E7B5-A7BF-31BB0C8721AC}"/>
              </a:ext>
            </a:extLst>
          </p:cNvPr>
          <p:cNvSpPr/>
          <p:nvPr/>
        </p:nvSpPr>
        <p:spPr>
          <a:xfrm>
            <a:off x="250358" y="97581"/>
            <a:ext cx="9231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Method:</a:t>
            </a:r>
            <a:r>
              <a:rPr lang="en-US" altLang="zh-CN" sz="4000" b="1" dirty="0"/>
              <a:t> </a:t>
            </a: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rPr>
              <a:t>Adaptive Debiasing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Quattrocento Sans" panose="020B0502050000020003" pitchFamily="34" charset="0"/>
              <a:ea typeface="微软雅黑" panose="020B050302020402020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26934E-2C11-8B5D-8254-07C8CC98E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10" name="Picture 2" descr="Press">
            <a:extLst>
              <a:ext uri="{FF2B5EF4-FFF2-40B4-BE49-F238E27FC236}">
                <a16:creationId xmlns:a16="http://schemas.microsoft.com/office/drawing/2014/main" id="{3F7ADA03-E724-D201-8E77-AB0119325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ight Arrow 77">
            <a:extLst>
              <a:ext uri="{FF2B5EF4-FFF2-40B4-BE49-F238E27FC236}">
                <a16:creationId xmlns:a16="http://schemas.microsoft.com/office/drawing/2014/main" id="{99CBC9E3-8456-B574-F5D6-08984CC604CE}"/>
              </a:ext>
            </a:extLst>
          </p:cNvPr>
          <p:cNvSpPr/>
          <p:nvPr/>
        </p:nvSpPr>
        <p:spPr>
          <a:xfrm rot="5400000">
            <a:off x="10326676" y="3892016"/>
            <a:ext cx="399969" cy="274320"/>
          </a:xfrm>
          <a:prstGeom prst="rightArrow">
            <a:avLst>
              <a:gd name="adj1" fmla="val 50001"/>
              <a:gd name="adj2" fmla="val 50000"/>
            </a:avLst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81">
            <a:extLst>
              <a:ext uri="{FF2B5EF4-FFF2-40B4-BE49-F238E27FC236}">
                <a16:creationId xmlns:a16="http://schemas.microsoft.com/office/drawing/2014/main" id="{0CF3DC15-667E-1659-80EE-0795E5212B66}"/>
              </a:ext>
            </a:extLst>
          </p:cNvPr>
          <p:cNvSpPr/>
          <p:nvPr/>
        </p:nvSpPr>
        <p:spPr>
          <a:xfrm rot="10800000">
            <a:off x="9558522" y="5062909"/>
            <a:ext cx="365760" cy="274320"/>
          </a:xfrm>
          <a:prstGeom prst="rightArrow">
            <a:avLst>
              <a:gd name="adj1" fmla="val 57246"/>
              <a:gd name="adj2" fmla="val 50000"/>
            </a:avLst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95">
            <a:extLst>
              <a:ext uri="{FF2B5EF4-FFF2-40B4-BE49-F238E27FC236}">
                <a16:creationId xmlns:a16="http://schemas.microsoft.com/office/drawing/2014/main" id="{8CFA1107-9300-94DB-D8BA-A65DD2DA63B7}"/>
              </a:ext>
            </a:extLst>
          </p:cNvPr>
          <p:cNvGrpSpPr/>
          <p:nvPr/>
        </p:nvGrpSpPr>
        <p:grpSpPr>
          <a:xfrm>
            <a:off x="9987346" y="1964083"/>
            <a:ext cx="1229614" cy="307777"/>
            <a:chOff x="10147968" y="2422952"/>
            <a:chExt cx="1229614" cy="307777"/>
          </a:xfrm>
        </p:grpSpPr>
        <p:sp>
          <p:nvSpPr>
            <p:cNvPr id="18" name="Rectangle 93">
              <a:extLst>
                <a:ext uri="{FF2B5EF4-FFF2-40B4-BE49-F238E27FC236}">
                  <a16:creationId xmlns:a16="http://schemas.microsoft.com/office/drawing/2014/main" id="{8075BFC2-689A-FEA7-9A40-0E37D118014A}"/>
                </a:ext>
              </a:extLst>
            </p:cNvPr>
            <p:cNvSpPr/>
            <p:nvPr/>
          </p:nvSpPr>
          <p:spPr>
            <a:xfrm>
              <a:off x="10147968" y="2446723"/>
              <a:ext cx="1229614" cy="259686"/>
            </a:xfrm>
            <a:prstGeom prst="rect">
              <a:avLst/>
            </a:prstGeom>
            <a:solidFill>
              <a:srgbClr val="FBDB83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94">
              <a:extLst>
                <a:ext uri="{FF2B5EF4-FFF2-40B4-BE49-F238E27FC236}">
                  <a16:creationId xmlns:a16="http://schemas.microsoft.com/office/drawing/2014/main" id="{DB86CD1C-4A12-0526-490B-0C626B5C0708}"/>
                </a:ext>
              </a:extLst>
            </p:cNvPr>
            <p:cNvSpPr txBox="1"/>
            <p:nvPr/>
          </p:nvSpPr>
          <p:spPr>
            <a:xfrm>
              <a:off x="10287233" y="2422952"/>
              <a:ext cx="10903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Smoothing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115">
                <a:extLst>
                  <a:ext uri="{FF2B5EF4-FFF2-40B4-BE49-F238E27FC236}">
                    <a16:creationId xmlns:a16="http://schemas.microsoft.com/office/drawing/2014/main" id="{8055E5BE-6B24-DD5E-E288-2FC3E0844B41}"/>
                  </a:ext>
                </a:extLst>
              </p:cNvPr>
              <p:cNvSpPr txBox="1"/>
              <p:nvPr/>
            </p:nvSpPr>
            <p:spPr>
              <a:xfrm>
                <a:off x="10051024" y="4305328"/>
                <a:ext cx="10903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Residual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4" name="TextBox 115">
                <a:extLst>
                  <a:ext uri="{FF2B5EF4-FFF2-40B4-BE49-F238E27FC236}">
                    <a16:creationId xmlns:a16="http://schemas.microsoft.com/office/drawing/2014/main" id="{8055E5BE-6B24-DD5E-E288-2FC3E0844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1024" y="4305328"/>
                <a:ext cx="1090347" cy="307777"/>
              </a:xfrm>
              <a:prstGeom prst="rect">
                <a:avLst/>
              </a:prstGeom>
              <a:blipFill>
                <a:blip r:embed="rId5"/>
                <a:stretch>
                  <a:fillRect l="-1149" t="-3846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116">
            <a:extLst>
              <a:ext uri="{FF2B5EF4-FFF2-40B4-BE49-F238E27FC236}">
                <a16:creationId xmlns:a16="http://schemas.microsoft.com/office/drawing/2014/main" id="{AE5C3C66-6F7D-6D76-C7C7-B9F533A077A4}"/>
              </a:ext>
            </a:extLst>
          </p:cNvPr>
          <p:cNvSpPr txBox="1"/>
          <p:nvPr/>
        </p:nvSpPr>
        <p:spPr>
          <a:xfrm>
            <a:off x="8232649" y="4302410"/>
            <a:ext cx="1799125" cy="313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Smoothed Residual</a:t>
            </a:r>
          </a:p>
        </p:txBody>
      </p:sp>
      <p:sp>
        <p:nvSpPr>
          <p:cNvPr id="26" name="TextBox 118">
            <a:extLst>
              <a:ext uri="{FF2B5EF4-FFF2-40B4-BE49-F238E27FC236}">
                <a16:creationId xmlns:a16="http://schemas.microsoft.com/office/drawing/2014/main" id="{CBD7A832-B86A-2053-DA96-11BE9C7F4080}"/>
              </a:ext>
            </a:extLst>
          </p:cNvPr>
          <p:cNvSpPr txBox="1"/>
          <p:nvPr/>
        </p:nvSpPr>
        <p:spPr>
          <a:xfrm>
            <a:off x="6546728" y="4305328"/>
            <a:ext cx="2041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Debiased estimate</a:t>
            </a:r>
          </a:p>
        </p:txBody>
      </p:sp>
      <p:pic>
        <p:nvPicPr>
          <p:cNvPr id="27" name="Picture 140">
            <a:extLst>
              <a:ext uri="{FF2B5EF4-FFF2-40B4-BE49-F238E27FC236}">
                <a16:creationId xmlns:a16="http://schemas.microsoft.com/office/drawing/2014/main" id="{094ABA78-863B-756A-6F52-8EF21A94A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0596310" y="5100699"/>
            <a:ext cx="1015300" cy="175734"/>
          </a:xfrm>
          <a:prstGeom prst="rect">
            <a:avLst/>
          </a:prstGeom>
        </p:spPr>
      </p:pic>
      <p:sp>
        <p:nvSpPr>
          <p:cNvPr id="28" name="Right Arrow 82">
            <a:extLst>
              <a:ext uri="{FF2B5EF4-FFF2-40B4-BE49-F238E27FC236}">
                <a16:creationId xmlns:a16="http://schemas.microsoft.com/office/drawing/2014/main" id="{B291E8CC-88A7-2FA6-6F22-BE710414F0CD}"/>
              </a:ext>
            </a:extLst>
          </p:cNvPr>
          <p:cNvSpPr/>
          <p:nvPr/>
        </p:nvSpPr>
        <p:spPr>
          <a:xfrm rot="10800000">
            <a:off x="7995757" y="5062909"/>
            <a:ext cx="282437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163">
            <a:extLst>
              <a:ext uri="{FF2B5EF4-FFF2-40B4-BE49-F238E27FC236}">
                <a16:creationId xmlns:a16="http://schemas.microsoft.com/office/drawing/2014/main" id="{E7371607-00D5-FA11-0D40-D65EBE598E9E}"/>
              </a:ext>
            </a:extLst>
          </p:cNvPr>
          <p:cNvPicPr>
            <a:picLocks/>
          </p:cNvPicPr>
          <p:nvPr/>
        </p:nvPicPr>
        <p:blipFill rotWithShape="1">
          <a:blip r:embed="rId7"/>
          <a:srcRect r="3798"/>
          <a:stretch/>
        </p:blipFill>
        <p:spPr>
          <a:xfrm>
            <a:off x="9967447" y="4590208"/>
            <a:ext cx="1055602" cy="1097280"/>
          </a:xfrm>
          <a:prstGeom prst="rect">
            <a:avLst/>
          </a:prstGeom>
        </p:spPr>
      </p:pic>
      <p:pic>
        <p:nvPicPr>
          <p:cNvPr id="30" name="Picture 166">
            <a:extLst>
              <a:ext uri="{FF2B5EF4-FFF2-40B4-BE49-F238E27FC236}">
                <a16:creationId xmlns:a16="http://schemas.microsoft.com/office/drawing/2014/main" id="{85453E32-F8D2-FF0F-689B-20C9E404F66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418077" y="4590208"/>
            <a:ext cx="1097280" cy="1097280"/>
          </a:xfrm>
          <a:prstGeom prst="rect">
            <a:avLst/>
          </a:prstGeom>
        </p:spPr>
      </p:pic>
      <p:pic>
        <p:nvPicPr>
          <p:cNvPr id="33" name="Picture 171">
            <a:extLst>
              <a:ext uri="{FF2B5EF4-FFF2-40B4-BE49-F238E27FC236}">
                <a16:creationId xmlns:a16="http://schemas.microsoft.com/office/drawing/2014/main" id="{384AF71D-A2CA-17F7-DBE9-55CA003F5D57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956309" y="2620092"/>
            <a:ext cx="1097280" cy="1097280"/>
          </a:xfrm>
          <a:prstGeom prst="rect">
            <a:avLst/>
          </a:prstGeom>
        </p:spPr>
      </p:pic>
      <p:pic>
        <p:nvPicPr>
          <p:cNvPr id="36" name="Picture 178">
            <a:extLst>
              <a:ext uri="{FF2B5EF4-FFF2-40B4-BE49-F238E27FC236}">
                <a16:creationId xmlns:a16="http://schemas.microsoft.com/office/drawing/2014/main" id="{CAC52AC8-56C5-0FAA-A956-6385DE171C17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717489" y="4590208"/>
            <a:ext cx="1134530" cy="10972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182">
                <a:extLst>
                  <a:ext uri="{FF2B5EF4-FFF2-40B4-BE49-F238E27FC236}">
                    <a16:creationId xmlns:a16="http://schemas.microsoft.com/office/drawing/2014/main" id="{BC4B2AB5-D70B-C439-9F30-6C3C84281898}"/>
                  </a:ext>
                </a:extLst>
              </p:cNvPr>
              <p:cNvSpPr txBox="1"/>
              <p:nvPr/>
            </p:nvSpPr>
            <p:spPr>
              <a:xfrm>
                <a:off x="10236399" y="2318114"/>
                <a:ext cx="592085" cy="221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𝑡𝑟𝑎𝑛𝑠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TextBox 182">
                <a:extLst>
                  <a:ext uri="{FF2B5EF4-FFF2-40B4-BE49-F238E27FC236}">
                    <a16:creationId xmlns:a16="http://schemas.microsoft.com/office/drawing/2014/main" id="{BC4B2AB5-D70B-C439-9F30-6C3C84281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6399" y="2318114"/>
                <a:ext cx="592085" cy="221856"/>
              </a:xfrm>
              <a:prstGeom prst="rect">
                <a:avLst/>
              </a:prstGeom>
              <a:blipFill>
                <a:blip r:embed="rId11"/>
                <a:stretch>
                  <a:fillRect l="-4167" t="-15789" r="-2083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185">
                <a:extLst>
                  <a:ext uri="{FF2B5EF4-FFF2-40B4-BE49-F238E27FC236}">
                    <a16:creationId xmlns:a16="http://schemas.microsoft.com/office/drawing/2014/main" id="{D6FB9406-0876-6ACB-F3D1-11521C3B6279}"/>
                  </a:ext>
                </a:extLst>
              </p:cNvPr>
              <p:cNvSpPr txBox="1"/>
              <p:nvPr/>
            </p:nvSpPr>
            <p:spPr>
              <a:xfrm>
                <a:off x="8512190" y="4694395"/>
                <a:ext cx="583327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𝑟𝑒𝑠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185">
                <a:extLst>
                  <a:ext uri="{FF2B5EF4-FFF2-40B4-BE49-F238E27FC236}">
                    <a16:creationId xmlns:a16="http://schemas.microsoft.com/office/drawing/2014/main" id="{D6FB9406-0876-6ACB-F3D1-11521C3B6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190" y="4694395"/>
                <a:ext cx="583327" cy="376770"/>
              </a:xfrm>
              <a:prstGeom prst="rect">
                <a:avLst/>
              </a:prstGeom>
              <a:blipFill>
                <a:blip r:embed="rId12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ight Arrow 188">
            <a:extLst>
              <a:ext uri="{FF2B5EF4-FFF2-40B4-BE49-F238E27FC236}">
                <a16:creationId xmlns:a16="http://schemas.microsoft.com/office/drawing/2014/main" id="{D16E3A58-A649-0C3E-E79B-A7CAE9725CBA}"/>
              </a:ext>
            </a:extLst>
          </p:cNvPr>
          <p:cNvSpPr/>
          <p:nvPr/>
        </p:nvSpPr>
        <p:spPr>
          <a:xfrm>
            <a:off x="11080228" y="3131453"/>
            <a:ext cx="365760" cy="274320"/>
          </a:xfrm>
          <a:prstGeom prst="rightArrow">
            <a:avLst/>
          </a:prstGeom>
          <a:solidFill>
            <a:schemeClr val="bg1">
              <a:lumMod val="85000"/>
              <a:alpha val="52157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192">
            <a:extLst>
              <a:ext uri="{FF2B5EF4-FFF2-40B4-BE49-F238E27FC236}">
                <a16:creationId xmlns:a16="http://schemas.microsoft.com/office/drawing/2014/main" id="{D14D811F-7E2A-9FC6-3064-DA7180211D9B}"/>
              </a:ext>
            </a:extLst>
          </p:cNvPr>
          <p:cNvSpPr txBox="1"/>
          <p:nvPr/>
        </p:nvSpPr>
        <p:spPr>
          <a:xfrm>
            <a:off x="7774719" y="4754899"/>
            <a:ext cx="859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Output</a:t>
            </a:r>
          </a:p>
        </p:txBody>
      </p:sp>
      <p:sp>
        <p:nvSpPr>
          <p:cNvPr id="43" name="Rounded Rectangle 194">
            <a:extLst>
              <a:ext uri="{FF2B5EF4-FFF2-40B4-BE49-F238E27FC236}">
                <a16:creationId xmlns:a16="http://schemas.microsoft.com/office/drawing/2014/main" id="{A0E8F0CF-D4E4-D7E9-25C9-25A4DCC9A9E4}"/>
              </a:ext>
            </a:extLst>
          </p:cNvPr>
          <p:cNvSpPr/>
          <p:nvPr/>
        </p:nvSpPr>
        <p:spPr>
          <a:xfrm>
            <a:off x="6360741" y="4551872"/>
            <a:ext cx="5135291" cy="1161992"/>
          </a:xfrm>
          <a:prstGeom prst="round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195">
            <a:extLst>
              <a:ext uri="{FF2B5EF4-FFF2-40B4-BE49-F238E27FC236}">
                <a16:creationId xmlns:a16="http://schemas.microsoft.com/office/drawing/2014/main" id="{044AABA9-0E84-1C76-1F54-903507A5912A}"/>
              </a:ext>
            </a:extLst>
          </p:cNvPr>
          <p:cNvSpPr txBox="1"/>
          <p:nvPr/>
        </p:nvSpPr>
        <p:spPr>
          <a:xfrm>
            <a:off x="8464984" y="4039618"/>
            <a:ext cx="159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Debiasing step</a:t>
            </a:r>
          </a:p>
        </p:txBody>
      </p:sp>
      <p:sp>
        <p:nvSpPr>
          <p:cNvPr id="45" name="Rounded Rectangle 190">
            <a:extLst>
              <a:ext uri="{FF2B5EF4-FFF2-40B4-BE49-F238E27FC236}">
                <a16:creationId xmlns:a16="http://schemas.microsoft.com/office/drawing/2014/main" id="{F74CA098-DEE7-CB32-833A-90049B761038}"/>
              </a:ext>
            </a:extLst>
          </p:cNvPr>
          <p:cNvSpPr/>
          <p:nvPr/>
        </p:nvSpPr>
        <p:spPr>
          <a:xfrm>
            <a:off x="11466752" y="3050397"/>
            <a:ext cx="644942" cy="424156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191">
            <a:extLst>
              <a:ext uri="{FF2B5EF4-FFF2-40B4-BE49-F238E27FC236}">
                <a16:creationId xmlns:a16="http://schemas.microsoft.com/office/drawing/2014/main" id="{DBAA9512-478F-BF7E-16F3-C09D30E7F3DA}"/>
              </a:ext>
            </a:extLst>
          </p:cNvPr>
          <p:cNvSpPr txBox="1"/>
          <p:nvPr/>
        </p:nvSpPr>
        <p:spPr>
          <a:xfrm>
            <a:off x="11447510" y="3082090"/>
            <a:ext cx="859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106">
                <a:extLst>
                  <a:ext uri="{FF2B5EF4-FFF2-40B4-BE49-F238E27FC236}">
                    <a16:creationId xmlns:a16="http://schemas.microsoft.com/office/drawing/2014/main" id="{33534D1D-83D3-1016-545C-300F77961ED3}"/>
                  </a:ext>
                </a:extLst>
              </p:cNvPr>
              <p:cNvSpPr txBox="1"/>
              <p:nvPr/>
            </p:nvSpPr>
            <p:spPr>
              <a:xfrm>
                <a:off x="10671785" y="3833905"/>
                <a:ext cx="29553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d&gt;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0" name="TextBox 106">
                <a:extLst>
                  <a:ext uri="{FF2B5EF4-FFF2-40B4-BE49-F238E27FC236}">
                    <a16:creationId xmlns:a16="http://schemas.microsoft.com/office/drawing/2014/main" id="{33534D1D-83D3-1016-545C-300F77961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1785" y="3833905"/>
                <a:ext cx="2955331" cy="307777"/>
              </a:xfrm>
              <a:prstGeom prst="rect">
                <a:avLst/>
              </a:prstGeom>
              <a:blipFill>
                <a:blip r:embed="rId13"/>
                <a:stretch>
                  <a:fillRect l="-858" t="-4000" b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189">
                <a:extLst>
                  <a:ext uri="{FF2B5EF4-FFF2-40B4-BE49-F238E27FC236}">
                    <a16:creationId xmlns:a16="http://schemas.microsoft.com/office/drawing/2014/main" id="{2174A9F3-5711-099F-7D79-FE2C6A631719}"/>
                  </a:ext>
                </a:extLst>
              </p:cNvPr>
              <p:cNvSpPr txBox="1"/>
              <p:nvPr/>
            </p:nvSpPr>
            <p:spPr>
              <a:xfrm>
                <a:off x="11033982" y="2818305"/>
                <a:ext cx="29553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d&lt;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1" name="TextBox 189">
                <a:extLst>
                  <a:ext uri="{FF2B5EF4-FFF2-40B4-BE49-F238E27FC236}">
                    <a16:creationId xmlns:a16="http://schemas.microsoft.com/office/drawing/2014/main" id="{2174A9F3-5711-099F-7D79-FE2C6A631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982" y="2818305"/>
                <a:ext cx="2955331" cy="307777"/>
              </a:xfrm>
              <a:prstGeom prst="rect">
                <a:avLst/>
              </a:prstGeom>
              <a:blipFill>
                <a:blip r:embed="rId14"/>
                <a:stretch>
                  <a:fillRect l="-427" t="-3846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1A7A1424-20C2-097B-D8F4-B4C82D102CD5}"/>
              </a:ext>
            </a:extLst>
          </p:cNvPr>
          <p:cNvSpPr txBox="1"/>
          <p:nvPr/>
        </p:nvSpPr>
        <p:spPr>
          <a:xfrm>
            <a:off x="396782" y="5799495"/>
            <a:ext cx="11398436" cy="47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Benefit</a:t>
            </a: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pitchFamily="18" charset="0"/>
              </a:rPr>
              <a:t>: Adaptive correction to preserve transfer gains while avoiding negative transfer</a:t>
            </a:r>
            <a:endParaRPr lang="zh-CN" altLang="zh-CN" sz="2200" dirty="0">
              <a:latin typeface="Quattrocento Sans" panose="020B0502050000020003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9B106223-75A4-EFE0-6ABB-72626DDC1BCA}"/>
                  </a:ext>
                </a:extLst>
              </p:cNvPr>
              <p:cNvSpPr txBox="1"/>
              <p:nvPr/>
            </p:nvSpPr>
            <p:spPr>
              <a:xfrm>
                <a:off x="379591" y="3356892"/>
                <a:ext cx="6266030" cy="25409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342900" lvl="0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Residual Smoothing</a:t>
                </a:r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Apply NS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 → denoised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p>
                        </m:sSubSup>
                      </m:e>
                    </m:acc>
                  </m:oMath>
                </a14:m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Keeps meaningful patterns, reduces noise</a:t>
                </a:r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Final Estimator</a:t>
                </a:r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p>
                        </m:sSubSup>
                      </m:e>
                    </m:acc>
                  </m:oMath>
                </a14:m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sz="220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: directly use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acc>
                  </m:oMath>
                </a14:m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buNone/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buNone/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buNone/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buNone/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buNone/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buNone/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  <a:buNone/>
                </a:pPr>
                <a:endParaRPr lang="en-US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endParaRPr lang="zh-CN" altLang="en-US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9B106223-75A4-EFE0-6ABB-72626DDC1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91" y="3356892"/>
                <a:ext cx="6266030" cy="2540959"/>
              </a:xfrm>
              <a:prstGeom prst="rect">
                <a:avLst/>
              </a:prstGeom>
              <a:blipFill>
                <a:blip r:embed="rId15"/>
                <a:stretch>
                  <a:fillRect l="-1010" b="-3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802A93F6-595C-E570-124D-B301225698B1}"/>
                  </a:ext>
                </a:extLst>
              </p:cNvPr>
              <p:cNvSpPr txBox="1"/>
              <p:nvPr/>
            </p:nvSpPr>
            <p:spPr>
              <a:xfrm>
                <a:off x="378622" y="1046079"/>
                <a:ext cx="11117410" cy="2303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Debiasing Step</a:t>
                </a:r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When applied</a:t>
                </a: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: If GW distance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 &gt; 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 → large domain shift, risk of negative transfer</a:t>
                </a:r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Residual Computation</a:t>
                </a:r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𝑖𝑛𝑖</m:t>
                            </m:r>
                          </m:sup>
                        </m:sSubSup>
                      </m:e>
                    </m:acc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acc>
                  </m:oMath>
                </a14:m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800100" lvl="1" indent="-342900">
                  <a:lnSpc>
                    <a:spcPts val="35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  <a:cs typeface="Times New Roman" panose="02020603050405020304" pitchFamily="18" charset="0"/>
                  </a:rPr>
                  <a:t>Captures target-specific structures not explained by transfer</a:t>
                </a:r>
                <a:endParaRPr lang="zh-CN" altLang="zh-CN" sz="2200" dirty="0">
                  <a:latin typeface="Quattrocento Sans" panose="020B05020500000200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802A93F6-595C-E570-124D-B30122569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22" y="1046079"/>
                <a:ext cx="11117410" cy="2303772"/>
              </a:xfrm>
              <a:prstGeom prst="rect">
                <a:avLst/>
              </a:prstGeom>
              <a:blipFill>
                <a:blip r:embed="rId16"/>
                <a:stretch>
                  <a:fillRect l="-570" b="-4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24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22E49-9FB2-9F23-D3F2-5AD079CF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9BE5B56A-3E3B-5BEE-2E7F-3ABA4F2D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12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ED50D9-F6C1-2E06-9D4C-5F74EE4C1425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BF8C052C-F0D3-0455-4CB4-07D17E0C9625}"/>
              </a:ext>
            </a:extLst>
          </p:cNvPr>
          <p:cNvSpPr/>
          <p:nvPr/>
        </p:nvSpPr>
        <p:spPr>
          <a:xfrm>
            <a:off x="346674" y="66405"/>
            <a:ext cx="9231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altLang="zh-CN" sz="4000" dirty="0"/>
              <a:t>Theoretical Properties</a:t>
            </a:r>
            <a:endParaRPr lang="en-US" altLang="zh-CN" sz="4000" dirty="0">
              <a:latin typeface="Quattrocento Sans" panose="020B05020500000200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B1CB8F4-9DD3-9659-3870-FE191154F13D}"/>
                  </a:ext>
                </a:extLst>
              </p:cNvPr>
              <p:cNvSpPr txBox="1"/>
              <p:nvPr/>
            </p:nvSpPr>
            <p:spPr>
              <a:xfrm>
                <a:off x="346674" y="1250991"/>
                <a:ext cx="11490396" cy="495763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ts val="3200"/>
                  </a:lnSpc>
                  <a:buNone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Motivation</a:t>
                </a:r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Stability of </a:t>
                </a:r>
                <a:r>
                  <a:rPr lang="en-US" altLang="zh-CN" sz="2200" b="1" dirty="0">
                    <a:latin typeface="Quattrocento Sans" panose="020B0502050000020003" pitchFamily="34" charset="0"/>
                  </a:rPr>
                  <a:t>Entropic GW (EGW)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 alignment is not well understood</a:t>
                </a:r>
              </a:p>
              <a:p>
                <a:pPr>
                  <a:lnSpc>
                    <a:spcPts val="3200"/>
                  </a:lnSpc>
                  <a:buNone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Main Question</a:t>
                </a:r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How close is estimated alignment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to oracle alignment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when using initial graphon estimates instead of true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200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200" b="0" i="0" dirty="0" smtClean="0"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endParaRPr lang="en-US" altLang="zh-CN" sz="2200" i="1" dirty="0">
                  <a:latin typeface="Quattrocento Sans" panose="020B0502050000020003" pitchFamily="34" charset="0"/>
                </a:endParaRPr>
              </a:p>
              <a:p>
                <a:pPr marL="342900" indent="-342900">
                  <a:lnSpc>
                    <a:spcPts val="3200"/>
                  </a:lnSpc>
                  <a:buFont typeface="Arial" panose="020B0604020202020204" pitchFamily="34" charset="0"/>
                  <a:buChar char="•"/>
                </a:pPr>
                <a:endParaRPr lang="en-US" altLang="zh-CN" sz="2200" i="1" dirty="0">
                  <a:latin typeface="Quattrocento Sans" panose="020B0502050000020003" pitchFamily="34" charset="0"/>
                </a:endParaRPr>
              </a:p>
              <a:p>
                <a:pPr>
                  <a:lnSpc>
                    <a:spcPts val="3200"/>
                  </a:lnSpc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Theorem 1: 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altLang="zh-CN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ar-AE" altLang="zh-CN" sz="220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be the solutions of the EGW optimization problem 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zh-CN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altLang="zh-CN" sz="22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altLang="zh-CN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ar-AE" altLang="zh-CN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altLang="zh-CN" sz="2200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ar-AE" altLang="zh-CN" sz="2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  <m:sup>
                                <m:r>
                                  <a:rPr lang="ar-AE" altLang="zh-CN" sz="2200" i="1" dirty="0" err="1">
                                    <a:latin typeface="Cambria Math" panose="02040503050406030204" pitchFamily="18" charset="0"/>
                                  </a:rPr>
                                  <m:t>𝑖𝑛𝑖</m:t>
                                </m:r>
                              </m:sup>
                            </m:sSubSup>
                          </m:e>
                        </m:acc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ar-AE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ar-AE" altLang="zh-CN" sz="22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altLang="zh-CN" sz="2200" i="1" dirty="0" err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ar-AE" altLang="zh-CN" sz="2200" i="1" dirty="0" err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ar-AE" altLang="zh-CN" sz="2200" i="1" dirty="0" err="1">
                                    <a:latin typeface="Cambria Math" panose="02040503050406030204" pitchFamily="18" charset="0"/>
                                  </a:rPr>
                                  <m:t>𝑖𝑛𝑖</m:t>
                                </m:r>
                              </m:sup>
                            </m:sSubSup>
                          </m:e>
                        </m:acc>
                      </m:e>
                    </m:d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zh-CN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ar-AE" altLang="zh-CN" sz="22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altLang="zh-CN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sz="22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altLang="zh-CN" sz="2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ar-AE" altLang="zh-CN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altLang="zh-CN" sz="2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sz="2200" i="1" dirty="0" err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ar-AE" altLang="zh-CN" sz="2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altLang="zh-CN" sz="2200" dirty="0">
                    <a:latin typeface="Quattrocento Sans" panose="020B0502050000020003" pitchFamily="34" charset="0"/>
                  </a:rPr>
                  <a:t>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respectively.  If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200" i="1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22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𝝐</m:t>
                        </m:r>
                      </m:num>
                      <m:den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zh-CN" sz="2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𝑜𝑝</m:t>
                            </m:r>
                          </m:sub>
                        </m:sSub>
                      </m:den>
                    </m:f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,  then there exists a universal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such that</a:t>
                </a:r>
              </a:p>
              <a:p>
                <a:pPr algn="ctr">
                  <a:lnSpc>
                    <a:spcPts val="3200"/>
                  </a:lnSpc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|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US" altLang="zh-CN" sz="22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 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 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lit/>
                          </m:rPr>
                          <a:rPr lang="en-US" altLang="zh-CN" sz="22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⊗</m:t>
                            </m:r>
                            <m:sSub>
                              <m:sSubPr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zh-CN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𝑖𝑛𝑖</m:t>
                                    </m:r>
                                  </m:sup>
                                </m:sSubSup>
                              </m:e>
                            </m:acc>
                            <m:r>
                              <a:rPr lang="en-US" altLang="zh-CN" sz="2200">
                                <a:latin typeface="Cambria Math" panose="02040503050406030204" pitchFamily="18" charset="0"/>
                              </a:rPr>
                              <m:t>⊗</m:t>
                            </m:r>
                            <m:acc>
                              <m:accPr>
                                <m:chr m:val="̂"/>
                                <m:ctrlPr>
                                  <a:rPr lang="zh-CN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zh-CN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𝑖𝑛𝑖</m:t>
                                    </m:r>
                                  </m:sup>
                                </m:sSubSup>
                              </m:e>
                            </m:acc>
                          </m:e>
                        </m:d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𝑜𝑝</m:t>
                            </m:r>
                          </m:sub>
                        </m:sSub>
                      </m:num>
                      <m:den>
                        <m:r>
                          <m:rPr>
                            <m:lit/>
                          </m:rPr>
                          <a:rPr lang="en-US" altLang="zh-CN" sz="2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⊗</m:t>
                        </m:r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lit/>
                              </m:r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𝑜𝑝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zh-CN" sz="2200" i="1" dirty="0">
                  <a:latin typeface="Quattrocento Sans" panose="020B0502050000020003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B1CB8F4-9DD3-9659-3870-FE191154F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74" y="1250991"/>
                <a:ext cx="11490396" cy="4957638"/>
              </a:xfrm>
              <a:prstGeom prst="rect">
                <a:avLst/>
              </a:prstGeom>
              <a:blipFill>
                <a:blip r:embed="rId3"/>
                <a:stretch>
                  <a:fillRect l="-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577EA144-7E68-964E-2002-855D8CCC9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10" name="Picture 2" descr="Press">
            <a:extLst>
              <a:ext uri="{FF2B5EF4-FFF2-40B4-BE49-F238E27FC236}">
                <a16:creationId xmlns:a16="http://schemas.microsoft.com/office/drawing/2014/main" id="{58AF2A1C-380F-69FE-5B44-DB417210B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68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8D6D-385F-C709-4826-AAF6FFB1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42A0D3D7-D5DC-A2D1-127A-905CCBC7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13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093A9E6-7783-C602-B0E5-89EB2FA1CCE4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0BF4EFA7-DCB2-C276-4F2F-2460D8BC2830}"/>
              </a:ext>
            </a:extLst>
          </p:cNvPr>
          <p:cNvSpPr/>
          <p:nvPr/>
        </p:nvSpPr>
        <p:spPr>
          <a:xfrm>
            <a:off x="346674" y="66405"/>
            <a:ext cx="92315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altLang="zh-CN" sz="4000" dirty="0"/>
              <a:t>Theoretical Properties</a:t>
            </a:r>
            <a:endParaRPr lang="en-US" altLang="zh-CN" sz="4000" dirty="0">
              <a:latin typeface="Quattrocento Sans" panose="020B05020500000200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6BD7752-A744-4BE7-C8D5-FA8451657F8D}"/>
                  </a:ext>
                </a:extLst>
              </p:cNvPr>
              <p:cNvSpPr txBox="1"/>
              <p:nvPr/>
            </p:nvSpPr>
            <p:spPr>
              <a:xfrm>
                <a:off x="346674" y="1250991"/>
                <a:ext cx="11490396" cy="495763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200" b="1" dirty="0">
                    <a:latin typeface="Quattrocento Sans" panose="020B0502050000020003" pitchFamily="34" charset="0"/>
                  </a:rPr>
                  <a:t>Motivation: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Relate true GW distance to GW from initial (noisy) graphon estimates.</a:t>
                </a:r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r>
                  <a:rPr lang="en-US" altLang="zh-CN" sz="2200" b="1" dirty="0">
                    <a:latin typeface="Quattrocento Sans" panose="020B0502050000020003" pitchFamily="34" charset="0"/>
                  </a:rPr>
                  <a:t>Assumptions (estimation accuracy):</a:t>
                </a:r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/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zh-CN" altLang="zh-CN" sz="2200" i="1"/>
                            </m:ctrlPr>
                          </m:sSubPr>
                          <m:e>
                            <m:r>
                              <a:rPr lang="en-US" altLang="zh-CN" sz="2200" i="1"/>
                              <m:t>𝑛</m:t>
                            </m:r>
                          </m:e>
                          <m:sub>
                            <m:r>
                              <a:rPr lang="en-US" altLang="zh-CN" sz="2200" i="1"/>
                              <m:t>𝑆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/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zh-CN" altLang="zh-CN" sz="2200" i="1"/>
                            </m:ctrlPr>
                          </m:sSubPr>
                          <m:e>
                            <m:r>
                              <a:rPr lang="en-US" altLang="zh-CN" sz="2200" i="1"/>
                              <m:t>𝑛</m:t>
                            </m:r>
                          </m:e>
                          <m:sub>
                            <m:r>
                              <a:rPr lang="en-US" altLang="zh-CN" sz="2200" i="1"/>
                              <m:t>𝑇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be errors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/>
                        </m:ctrlPr>
                      </m:sSubPr>
                      <m:e>
                        <m:r>
                          <a:rPr lang="en-US" altLang="zh-CN" sz="2200" i="1"/>
                          <m:t>𝑃</m:t>
                        </m:r>
                      </m:e>
                      <m:sub>
                        <m:r>
                          <a:rPr lang="en-US" altLang="zh-CN" sz="2200" i="1"/>
                          <m:t>𝑆</m:t>
                        </m:r>
                      </m:sub>
                    </m:sSub>
                    <m:r>
                      <a:rPr lang="en-US" altLang="zh-CN" sz="2200" i="1"/>
                      <m:t>,</m:t>
                    </m:r>
                    <m:sSub>
                      <m:sSubPr>
                        <m:ctrlPr>
                          <a:rPr lang="zh-CN" altLang="zh-CN" sz="2200" i="1"/>
                        </m:ctrlPr>
                      </m:sSubPr>
                      <m:e>
                        <m:r>
                          <a:rPr lang="en-US" altLang="zh-CN" sz="2200" i="1"/>
                          <m:t>𝑃</m:t>
                        </m:r>
                      </m:e>
                      <m:sub>
                        <m:r>
                          <a:rPr lang="en-US" altLang="zh-CN" sz="2200" i="1"/>
                          <m:t>𝑇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under avg. squared Frobenius norm.</a:t>
                </a:r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With probability </a:t>
                </a:r>
                <a14:m>
                  <m:oMath xmlns:m="http://schemas.openxmlformats.org/officeDocument/2006/math">
                    <m:r>
                      <a:rPr lang="en-US" altLang="zh-CN" sz="2200"/>
                      <m:t>≥</m:t>
                    </m:r>
                    <m:r>
                      <a:rPr lang="en-US" altLang="zh-CN" sz="2200" i="1"/>
                      <m:t>1−</m:t>
                    </m:r>
                    <m:sSub>
                      <m:sSubPr>
                        <m:ctrlPr>
                          <a:rPr lang="zh-CN" altLang="zh-CN" sz="22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/>
                          <m:t>ε</m:t>
                        </m:r>
                      </m:e>
                      <m:sub>
                        <m:r>
                          <a:rPr lang="en-US" altLang="zh-CN" sz="2200" i="1"/>
                          <m:t>𝑛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:  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200" i="1"/>
                        </m:ctrlPr>
                      </m:dPr>
                      <m:e>
                        <m:r>
                          <a:rPr lang="en-US" altLang="zh-CN" sz="2200" i="1"/>
                          <m:t>1</m:t>
                        </m:r>
                        <m:r>
                          <m:rPr>
                            <m:lit/>
                          </m:rPr>
                          <a:rPr lang="en-US" altLang="zh-CN" sz="2200" i="1"/>
                          <m:t>/</m:t>
                        </m:r>
                        <m:sSubSup>
                          <m:sSubSupPr>
                            <m:ctrlPr>
                              <a:rPr lang="zh-CN" altLang="zh-CN" sz="2200" i="1"/>
                            </m:ctrlPr>
                          </m:sSubSupPr>
                          <m:e>
                            <m:r>
                              <a:rPr lang="en-US" altLang="zh-CN" sz="2200" i="1"/>
                              <m:t>𝑛</m:t>
                            </m:r>
                          </m:e>
                          <m:sub>
                            <m:r>
                              <a:rPr lang="en-US" altLang="zh-CN" sz="2200" i="1"/>
                              <m:t>𝑆</m:t>
                            </m:r>
                          </m:sub>
                          <m:sup>
                            <m:r>
                              <a:rPr lang="en-US" altLang="zh-CN" sz="2200" i="1"/>
                              <m:t>2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zh-CN" altLang="zh-CN" sz="2200" i="1"/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sz="2200" i="1"/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sz="2200" i="1"/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zh-CN" sz="2200" i="1"/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zh-CN" altLang="zh-CN" sz="2200" i="1"/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200" i="1"/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zh-CN" sz="2200" i="1"/>
                                          <m:t>𝑆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sz="2200">
                                            <a:latin typeface="Quattrocento Sans" panose="020B0502050000020003" pitchFamily="34" charset="0"/>
                                          </a:rPr>
                                          <m:t>init</m:t>
                                        </m:r>
                                      </m:sup>
                                    </m:sSubSup>
                                  </m:e>
                                </m:acc>
                                <m:r>
                                  <a:rPr lang="en-US" altLang="zh-CN" sz="2200" i="1"/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2200" i="1"/>
                                    </m:ctrlPr>
                                  </m:sSubPr>
                                  <m:e>
                                    <m:r>
                                      <a:rPr lang="en-US" altLang="zh-CN" sz="2200" i="1"/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2200" i="1"/>
                                      <m:t>𝑆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200" i="1"/>
                          <m:t>𝐹</m:t>
                        </m:r>
                      </m:sub>
                      <m:sup>
                        <m:r>
                          <a:rPr lang="en-US" altLang="zh-CN" sz="2200" i="1"/>
                          <m:t>2</m:t>
                        </m:r>
                      </m:sup>
                    </m:sSubSup>
                    <m:r>
                      <a:rPr lang="en-US" altLang="zh-CN" sz="2200"/>
                      <m:t>≤</m:t>
                    </m:r>
                    <m:sSub>
                      <m:sSubPr>
                        <m:ctrlPr>
                          <a:rPr lang="zh-CN" altLang="zh-CN" sz="22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/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zh-CN" altLang="zh-CN" sz="2200" i="1"/>
                            </m:ctrlPr>
                          </m:sSubPr>
                          <m:e>
                            <m:r>
                              <a:rPr lang="en-US" altLang="zh-CN" sz="2200" i="1"/>
                              <m:t>𝑛</m:t>
                            </m:r>
                          </m:e>
                          <m:sub>
                            <m:r>
                              <a:rPr lang="en-US" altLang="zh-CN" sz="2200" i="1"/>
                              <m:t>𝑆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200" i="1"/>
                        </m:ctrlPr>
                      </m:dPr>
                      <m:e>
                        <m:r>
                          <a:rPr lang="en-US" altLang="zh-CN" sz="2200" i="1"/>
                          <m:t>1</m:t>
                        </m:r>
                        <m:r>
                          <m:rPr>
                            <m:lit/>
                          </m:rPr>
                          <a:rPr lang="en-US" altLang="zh-CN" sz="2200" i="1"/>
                          <m:t>/</m:t>
                        </m:r>
                        <m:sSubSup>
                          <m:sSubSupPr>
                            <m:ctrlPr>
                              <a:rPr lang="zh-CN" altLang="zh-CN" sz="2200" i="1"/>
                            </m:ctrlPr>
                          </m:sSubSupPr>
                          <m:e>
                            <m:r>
                              <a:rPr lang="en-US" altLang="zh-CN" sz="2200" i="1"/>
                              <m:t>𝑛</m:t>
                            </m:r>
                          </m:e>
                          <m:sub>
                            <m:r>
                              <a:rPr lang="en-US" altLang="zh-CN" sz="2200" i="1"/>
                              <m:t>𝑇</m:t>
                            </m:r>
                          </m:sub>
                          <m:sup>
                            <m:r>
                              <a:rPr lang="en-US" altLang="zh-CN" sz="2200" i="1"/>
                              <m:t>2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zh-CN" altLang="zh-CN" sz="2200" i="1"/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sz="2200" i="1"/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sz="2200" i="1"/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zh-CN" sz="2200" i="1"/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zh-CN" altLang="zh-CN" sz="2200" i="1"/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200" i="1"/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zh-CN" sz="2200" i="1"/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altLang="zh-CN" sz="2200">
                                            <a:latin typeface="Quattrocento Sans" panose="020B0502050000020003" pitchFamily="34" charset="0"/>
                                          </a:rPr>
                                          <m:t>init</m:t>
                                        </m:r>
                                      </m:sup>
                                    </m:sSubSup>
                                  </m:e>
                                </m:acc>
                                <m:r>
                                  <a:rPr lang="en-US" altLang="zh-CN" sz="2200" i="1"/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2200" i="1"/>
                                    </m:ctrlPr>
                                  </m:sSubPr>
                                  <m:e>
                                    <m:r>
                                      <a:rPr lang="en-US" altLang="zh-CN" sz="2200" i="1"/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2200" i="1"/>
                                      <m:t>𝑇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200" i="1"/>
                          <m:t>𝐹</m:t>
                        </m:r>
                      </m:sub>
                      <m:sup>
                        <m:r>
                          <a:rPr lang="en-US" altLang="zh-CN" sz="2200" i="1"/>
                          <m:t>2</m:t>
                        </m:r>
                      </m:sup>
                    </m:sSubSup>
                    <m:r>
                      <a:rPr lang="en-US" altLang="zh-CN" sz="2200"/>
                      <m:t>≤</m:t>
                    </m:r>
                    <m:sSub>
                      <m:sSubPr>
                        <m:ctrlPr>
                          <a:rPr lang="zh-CN" altLang="zh-CN" sz="220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/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zh-CN" altLang="zh-CN" sz="2200" i="1"/>
                            </m:ctrlPr>
                          </m:sSubPr>
                          <m:e>
                            <m:r>
                              <a:rPr lang="en-US" altLang="zh-CN" sz="2200" i="1"/>
                              <m:t>𝑛</m:t>
                            </m:r>
                          </m:e>
                          <m:sub>
                            <m:r>
                              <a:rPr lang="en-US" altLang="zh-CN" sz="2200" i="1"/>
                              <m:t>𝑇</m:t>
                            </m:r>
                          </m:sub>
                        </m:sSub>
                      </m:sub>
                    </m:sSub>
                    <m:r>
                      <a:rPr lang="en-US" altLang="zh-CN" sz="2200" i="1"/>
                      <m:t>.</m:t>
                    </m:r>
                  </m:oMath>
                </a14:m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r>
                  <a:rPr lang="en-US" altLang="zh-CN" sz="2200" dirty="0">
                    <a:latin typeface="Quattrocento Sans" panose="020B0502050000020003" pitchFamily="34" charset="0"/>
                  </a:rPr>
                  <a:t> </a:t>
                </a:r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r>
                  <a:rPr lang="en-US" altLang="zh-CN" sz="2200" b="1" dirty="0">
                    <a:latin typeface="Quattrocento Sans" panose="020B0502050000020003" pitchFamily="34" charset="0"/>
                  </a:rPr>
                  <a:t>Theorem (GW similarity under initial estimator accuracy): 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zh-CN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/>
                        <m:t>𝐺</m:t>
                      </m:r>
                      <m:sSubSup>
                        <m:sSubSupPr>
                          <m:ctrlPr>
                            <a:rPr lang="zh-CN" altLang="zh-CN" sz="2200" i="1"/>
                          </m:ctrlPr>
                        </m:sSubSupPr>
                        <m:e>
                          <m:r>
                            <a:rPr lang="en-US" altLang="zh-CN" sz="2200" i="1"/>
                            <m:t>𝑊</m:t>
                          </m:r>
                        </m:e>
                        <m:sub>
                          <m:r>
                            <a:rPr lang="en-US" altLang="zh-CN" sz="2200" i="1"/>
                            <m:t>2</m:t>
                          </m:r>
                        </m:sub>
                        <m:sup>
                          <m:r>
                            <a:rPr lang="en-US" altLang="zh-CN" sz="2200" i="1"/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zh-CN" altLang="zh-CN" sz="2200" i="1"/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200" i="1"/>
                              </m:ctrlPr>
                            </m:sSubPr>
                            <m:e>
                              <m:r>
                                <a:rPr lang="en-US" altLang="zh-CN" sz="2200" i="1"/>
                                <m:t>𝑃</m:t>
                              </m:r>
                            </m:e>
                            <m:sub>
                              <m:r>
                                <a:rPr lang="en-US" altLang="zh-CN" sz="2200" i="1"/>
                                <m:t>𝑆</m:t>
                              </m:r>
                            </m:sub>
                          </m:sSub>
                          <m:r>
                            <a:rPr lang="en-US" altLang="zh-CN" sz="2200" i="1"/>
                            <m:t>,</m:t>
                          </m:r>
                          <m:sSub>
                            <m:sSubPr>
                              <m:ctrlPr>
                                <a:rPr lang="zh-CN" altLang="zh-CN" sz="2200" i="1"/>
                              </m:ctrlPr>
                            </m:sSubPr>
                            <m:e>
                              <m:r>
                                <a:rPr lang="en-US" altLang="zh-CN" sz="2200" i="1"/>
                                <m:t>𝑃</m:t>
                              </m:r>
                            </m:e>
                            <m:sub>
                              <m:r>
                                <a:rPr lang="en-US" altLang="zh-CN" sz="2200" i="1"/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altLang="zh-CN" sz="2200"/>
                        <m:t>≤</m:t>
                      </m:r>
                      <m:r>
                        <a:rPr lang="en-US" altLang="zh-CN" sz="2200" i="1"/>
                        <m:t>4</m:t>
                      </m:r>
                      <m:d>
                        <m:dPr>
                          <m:ctrlPr>
                            <a:rPr lang="zh-CN" altLang="zh-CN" sz="2200" i="1"/>
                          </m:ctrlPr>
                        </m:dPr>
                        <m:e>
                          <m:r>
                            <a:rPr lang="en-US" altLang="zh-CN" sz="2200" i="1"/>
                            <m:t>𝐺</m:t>
                          </m:r>
                          <m:sSubSup>
                            <m:sSubSupPr>
                              <m:ctrlPr>
                                <a:rPr lang="zh-CN" altLang="zh-CN" sz="2200" i="1"/>
                              </m:ctrlPr>
                            </m:sSubSupPr>
                            <m:e>
                              <m:r>
                                <a:rPr lang="en-US" altLang="zh-CN" sz="2200" i="1"/>
                                <m:t>𝑊</m:t>
                              </m:r>
                            </m:e>
                            <m:sub>
                              <m:r>
                                <a:rPr lang="en-US" altLang="zh-CN" sz="2200" i="1"/>
                                <m:t>2</m:t>
                              </m:r>
                            </m:sub>
                            <m:sup>
                              <m:r>
                                <a:rPr lang="en-US" altLang="zh-CN" sz="2200" i="1"/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zh-CN" sz="2200" i="1"/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zh-CN" sz="2200" i="1"/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zh-CN" altLang="zh-CN" sz="2200" i="1"/>
                                      </m:ctrlPr>
                                    </m:sSubSupPr>
                                    <m:e>
                                      <m:r>
                                        <a:rPr lang="en-US" altLang="zh-CN" sz="2200" i="1"/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sz="2200" i="1"/>
                                        <m:t>𝑆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CN" sz="2200">
                                          <a:latin typeface="Quattrocento Sans" panose="020B0502050000020003" pitchFamily="34" charset="0"/>
                                        </a:rPr>
                                        <m:t>init</m:t>
                                      </m:r>
                                    </m:sup>
                                  </m:sSubSup>
                                </m:e>
                              </m:acc>
                              <m:r>
                                <a:rPr lang="en-US" altLang="zh-CN" sz="2200" i="1"/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zh-CN" sz="2200" i="1"/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zh-CN" altLang="zh-CN" sz="2200" i="1"/>
                                      </m:ctrlPr>
                                    </m:sSubSupPr>
                                    <m:e>
                                      <m:r>
                                        <a:rPr lang="en-US" altLang="zh-CN" sz="2200" i="1"/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altLang="zh-CN" sz="2200" i="1"/>
                                        <m:t>𝑇</m:t>
                                      </m:r>
                                    </m:sub>
                                    <m:sup>
                                      <m:r>
                                        <m:rPr>
                                          <m:nor/>
                                        </m:rPr>
                                        <a:rPr lang="en-US" altLang="zh-CN" sz="2200">
                                          <a:latin typeface="Quattrocento Sans" panose="020B0502050000020003" pitchFamily="34" charset="0"/>
                                        </a:rPr>
                                        <m:t>init</m:t>
                                      </m:r>
                                    </m:sup>
                                  </m:sSubSup>
                                </m:e>
                              </m:acc>
                            </m:e>
                          </m:d>
                          <m:r>
                            <a:rPr lang="en-US" altLang="zh-CN" sz="2200" i="1"/>
                            <m:t>+</m:t>
                          </m:r>
                          <m:sSub>
                            <m:sSubPr>
                              <m:ctrlPr>
                                <a:rPr lang="zh-CN" altLang="zh-CN" sz="2200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/>
                                <m:t>δ</m:t>
                              </m:r>
                            </m:e>
                            <m:sub>
                              <m:r>
                                <a:rPr lang="en-US" altLang="zh-CN" sz="2200" i="1"/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/>
                        <m:t>𝐺</m:t>
                      </m:r>
                      <m:sSubSup>
                        <m:sSubSupPr>
                          <m:ctrlPr>
                            <a:rPr lang="zh-CN" altLang="zh-CN" sz="2200" i="1"/>
                          </m:ctrlPr>
                        </m:sSubSupPr>
                        <m:e>
                          <m:r>
                            <a:rPr lang="en-US" altLang="zh-CN" sz="2200" i="1"/>
                            <m:t>𝑊</m:t>
                          </m:r>
                        </m:e>
                        <m:sub>
                          <m:r>
                            <a:rPr lang="en-US" altLang="zh-CN" sz="2200" i="1"/>
                            <m:t>2</m:t>
                          </m:r>
                        </m:sub>
                        <m:sup>
                          <m:r>
                            <a:rPr lang="en-US" altLang="zh-CN" sz="2200" i="1"/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zh-CN" altLang="zh-CN" sz="2200" i="1"/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zh-CN" sz="2200" i="1"/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zh-CN" altLang="zh-CN" sz="2200" i="1"/>
                                  </m:ctrlPr>
                                </m:sSubSupPr>
                                <m:e>
                                  <m:r>
                                    <a:rPr lang="en-US" altLang="zh-CN" sz="2200" i="1"/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200" i="1"/>
                                    <m:t>𝑆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CN" sz="2200">
                                      <a:latin typeface="Quattrocento Sans" panose="020B0502050000020003" pitchFamily="34" charset="0"/>
                                    </a:rPr>
                                    <m:t>init</m:t>
                                  </m:r>
                                </m:sup>
                              </m:sSubSup>
                            </m:e>
                          </m:acc>
                          <m:r>
                            <a:rPr lang="en-US" altLang="zh-CN" sz="2200" i="1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zh-CN" altLang="zh-CN" sz="2200" i="1"/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zh-CN" altLang="zh-CN" sz="2200" i="1"/>
                                  </m:ctrlPr>
                                </m:sSubSupPr>
                                <m:e>
                                  <m:r>
                                    <a:rPr lang="en-US" altLang="zh-CN" sz="2200" i="1"/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200" i="1"/>
                                    <m:t>𝑇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zh-CN" sz="2200">
                                      <a:latin typeface="Quattrocento Sans" panose="020B0502050000020003" pitchFamily="34" charset="0"/>
                                    </a:rPr>
                                    <m:t>init</m:t>
                                  </m:r>
                                </m:sup>
                              </m:sSubSup>
                            </m:e>
                          </m:acc>
                        </m:e>
                      </m:d>
                      <m:r>
                        <a:rPr lang="en-US" altLang="zh-CN" sz="2200"/>
                        <m:t>≤</m:t>
                      </m:r>
                      <m:r>
                        <a:rPr lang="en-US" altLang="zh-CN" sz="2200" i="1"/>
                        <m:t>4</m:t>
                      </m:r>
                      <m:d>
                        <m:dPr>
                          <m:ctrlPr>
                            <a:rPr lang="zh-CN" altLang="zh-CN" sz="2200" i="1"/>
                          </m:ctrlPr>
                        </m:dPr>
                        <m:e>
                          <m:r>
                            <a:rPr lang="en-US" altLang="zh-CN" sz="2200" i="1"/>
                            <m:t>𝐺</m:t>
                          </m:r>
                          <m:sSubSup>
                            <m:sSubSupPr>
                              <m:ctrlPr>
                                <a:rPr lang="zh-CN" altLang="zh-CN" sz="2200" i="1"/>
                              </m:ctrlPr>
                            </m:sSubSupPr>
                            <m:e>
                              <m:r>
                                <a:rPr lang="en-US" altLang="zh-CN" sz="2200" i="1"/>
                                <m:t>𝑊</m:t>
                              </m:r>
                            </m:e>
                            <m:sub>
                              <m:r>
                                <a:rPr lang="en-US" altLang="zh-CN" sz="2200" i="1"/>
                                <m:t>2</m:t>
                              </m:r>
                            </m:sub>
                            <m:sup>
                              <m:r>
                                <a:rPr lang="en-US" altLang="zh-CN" sz="2200" i="1"/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zh-CN" sz="2200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200" i="1"/>
                                  </m:ctrlPr>
                                </m:sSubPr>
                                <m:e>
                                  <m:r>
                                    <a:rPr lang="en-US" altLang="zh-CN" sz="2200" i="1"/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200" i="1"/>
                                    <m:t>𝑆</m:t>
                                  </m:r>
                                </m:sub>
                              </m:sSub>
                              <m:r>
                                <a:rPr lang="en-US" altLang="zh-CN" sz="2200" i="1"/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200" i="1"/>
                                  </m:ctrlPr>
                                </m:sSubPr>
                                <m:e>
                                  <m:r>
                                    <a:rPr lang="en-US" altLang="zh-CN" sz="2200" i="1"/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200" i="1"/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200" i="1"/>
                            <m:t>+</m:t>
                          </m:r>
                          <m:sSub>
                            <m:sSubPr>
                              <m:ctrlPr>
                                <a:rPr lang="zh-CN" altLang="zh-CN" sz="2200" i="1"/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/>
                                <m:t>δ</m:t>
                              </m:r>
                            </m:e>
                            <m:sub>
                              <m:r>
                                <a:rPr lang="en-US" altLang="zh-CN" sz="2200" i="1"/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r>
                  <a:rPr lang="en-US" altLang="zh-CN" sz="2200" dirty="0">
                    <a:latin typeface="Quattrocento Sans" panose="020B0502050000020003" pitchFamily="34" charset="0"/>
                  </a:rPr>
                  <a:t> </a:t>
                </a:r>
                <a:endParaRPr lang="zh-CN" altLang="zh-CN" sz="2200" dirty="0">
                  <a:latin typeface="Quattrocento Sans" panose="020B0502050000020003" pitchFamily="34" charset="0"/>
                </a:endParaRPr>
              </a:p>
              <a:p>
                <a:r>
                  <a:rPr lang="en-US" altLang="zh-CN" sz="2200" dirty="0">
                    <a:latin typeface="Quattrocento Sans" panose="020B0502050000020003" pitchFamily="34" charset="0"/>
                  </a:rPr>
                  <a:t> </a:t>
                </a:r>
                <a:endParaRPr lang="zh-CN" altLang="zh-CN" sz="2200" dirty="0">
                  <a:latin typeface="Quattrocento Sans" panose="020B0502050000020003" pitchFamily="34" charset="0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6BD7752-A744-4BE7-C8D5-FA8451657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74" y="1250991"/>
                <a:ext cx="11490396" cy="4957638"/>
              </a:xfrm>
              <a:prstGeom prst="rect">
                <a:avLst/>
              </a:prstGeom>
              <a:blipFill>
                <a:blip r:embed="rId3"/>
                <a:stretch>
                  <a:fillRect l="-662" t="-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90F5779-0A1A-CD73-4FE6-2A5BB48C2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10" name="Picture 2" descr="Press">
            <a:extLst>
              <a:ext uri="{FF2B5EF4-FFF2-40B4-BE49-F238E27FC236}">
                <a16:creationId xmlns:a16="http://schemas.microsoft.com/office/drawing/2014/main" id="{CAF5C522-1456-C5B3-E5D4-8635A23F9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58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12BE-8A19-2078-784B-70A433DB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5F537FDA-98D2-C8EC-5CE3-D6351485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14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AF5EFA2-E843-3CD1-0D6E-DD42CD659BC9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84F54BA-3C4F-2301-B6DD-57BA11D2F225}"/>
              </a:ext>
            </a:extLst>
          </p:cNvPr>
          <p:cNvSpPr/>
          <p:nvPr/>
        </p:nvSpPr>
        <p:spPr>
          <a:xfrm>
            <a:off x="315" y="80690"/>
            <a:ext cx="2290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Outline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EBDC14D-587C-0C4C-0A3C-D0EBE10AABB5}"/>
              </a:ext>
            </a:extLst>
          </p:cNvPr>
          <p:cNvGrpSpPr/>
          <p:nvPr/>
        </p:nvGrpSpPr>
        <p:grpSpPr>
          <a:xfrm>
            <a:off x="335462" y="1411805"/>
            <a:ext cx="7421172" cy="5135188"/>
            <a:chOff x="674" y="2436"/>
            <a:chExt cx="8215" cy="8887"/>
          </a:xfrm>
        </p:grpSpPr>
        <p:sp>
          <p:nvSpPr>
            <p:cNvPr id="12" name="矩形: 圆角 1">
              <a:extLst>
                <a:ext uri="{FF2B5EF4-FFF2-40B4-BE49-F238E27FC236}">
                  <a16:creationId xmlns:a16="http://schemas.microsoft.com/office/drawing/2014/main" id="{9885B1E6-BAD7-7DF7-4B83-5BF690C39642}"/>
                </a:ext>
              </a:extLst>
            </p:cNvPr>
            <p:cNvSpPr/>
            <p:nvPr/>
          </p:nvSpPr>
          <p:spPr>
            <a:xfrm>
              <a:off x="674" y="4425"/>
              <a:ext cx="5315" cy="1088"/>
            </a:xfrm>
            <a:prstGeom prst="roundRect">
              <a:avLst/>
            </a:prstGeom>
            <a:solidFill>
              <a:srgbClr val="E6D8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内容占位符 2">
              <a:extLst>
                <a:ext uri="{FF2B5EF4-FFF2-40B4-BE49-F238E27FC236}">
                  <a16:creationId xmlns:a16="http://schemas.microsoft.com/office/drawing/2014/main" id="{E60280BA-A388-EE96-D51C-ECC43A958E38}"/>
                </a:ext>
              </a:extLst>
            </p:cNvPr>
            <p:cNvSpPr txBox="1"/>
            <p:nvPr/>
          </p:nvSpPr>
          <p:spPr>
            <a:xfrm>
              <a:off x="848" y="2436"/>
              <a:ext cx="8041" cy="8887"/>
            </a:xfrm>
            <a:prstGeom prst="rect">
              <a:avLst/>
            </a:prstGeom>
          </p:spPr>
          <p:txBody>
            <a:bodyPr vert="horz" lIns="68580" tIns="34290" rIns="68580" bIns="3429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lang="en-US" altLang="zh-CN" sz="30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Introduction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Method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Experiments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zh-CN" altLang="en-US" sz="3200" dirty="0"/>
                <a:t> </a:t>
              </a: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Simulation Experiments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zh-CN" altLang="en-US" sz="3200" dirty="0"/>
                <a:t> </a:t>
              </a: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Link Prediction</a:t>
              </a:r>
            </a:p>
            <a:p>
              <a:pPr lvl="1" algn="l">
                <a:lnSpc>
                  <a:spcPct val="100000"/>
                </a:lnSpc>
                <a:spcBef>
                  <a:spcPts val="1200"/>
                </a:spcBef>
                <a:defRPr/>
              </a:pPr>
              <a:r>
                <a:rPr lang="zh-CN" altLang="en-US" sz="3200" dirty="0"/>
                <a:t> </a:t>
              </a: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6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Graph Classification (via Data Augmentation)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lang="en-US" altLang="zh-CN" sz="30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Conclusion</a:t>
              </a: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FB26925-D0BE-DFA7-1AFA-E3EA772F1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6" name="Picture 2" descr="Press">
            <a:extLst>
              <a:ext uri="{FF2B5EF4-FFF2-40B4-BE49-F238E27FC236}">
                <a16:creationId xmlns:a16="http://schemas.microsoft.com/office/drawing/2014/main" id="{CB1EA318-F5C7-8236-28FD-34EAE3D3C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40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45425-A31B-36B3-3C5A-533AD357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EBF5FC55-97C8-706F-80CC-148DA41B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15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35D5A96-A226-2E79-D0A2-43CE202F3EEE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62924C59-7B8C-DC0A-6A54-5C63103D79AC}"/>
              </a:ext>
            </a:extLst>
          </p:cNvPr>
          <p:cNvSpPr/>
          <p:nvPr/>
        </p:nvSpPr>
        <p:spPr>
          <a:xfrm>
            <a:off x="128993" y="93224"/>
            <a:ext cx="1068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rPr>
              <a:t>Simulation </a:t>
            </a: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</a:rPr>
              <a:t>Experiments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7D232FD7-4377-4EAB-4966-86E9E17C4D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73461" y="978958"/>
                <a:ext cx="11236821" cy="51471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Ø"/>
                  <a:defRPr sz="28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24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20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8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8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en-US" altLang="zh-CN" sz="2400" b="1" dirty="0">
                    <a:latin typeface="Quattrocento Sans" panose="020B0502050000020003" pitchFamily="34" charset="0"/>
                  </a:rPr>
                  <a:t>Research Questions</a:t>
                </a:r>
                <a:endParaRPr lang="en-US" altLang="zh-CN" sz="2400" dirty="0">
                  <a:latin typeface="Quattrocento Sans" panose="020B0502050000020003" pitchFamily="34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Transfer between same graphons</a:t>
                </a:r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lvl="2">
                  <a:lnSpc>
                    <a:spcPts val="3000"/>
                  </a:lnSpc>
                </a:pPr>
                <a:r>
                  <a:rPr lang="en-US" altLang="zh-CN" dirty="0">
                    <a:latin typeface="Quattrocento Sans" panose="020B0502050000020003" pitchFamily="34" charset="0"/>
                  </a:rPr>
                  <a:t>Can </a:t>
                </a:r>
                <a:r>
                  <a:rPr lang="en-US" altLang="zh-CN" dirty="0" err="1">
                    <a:latin typeface="Quattrocento Sans" panose="020B0502050000020003" pitchFamily="34" charset="0"/>
                  </a:rPr>
                  <a:t>GTrans</a:t>
                </a:r>
                <a:r>
                  <a:rPr lang="en-US" altLang="zh-CN" dirty="0">
                    <a:latin typeface="Quattrocento Sans" panose="020B0502050000020003" pitchFamily="34" charset="0"/>
                  </a:rPr>
                  <a:t> improve estimation when source and target share the same graphon?</a:t>
                </a:r>
                <a:r>
                  <a:rPr lang="zh-CN" altLang="en-US" dirty="0">
                    <a:latin typeface="Quattrocento Sans" panose="020B0502050000020003" pitchFamily="34" charset="0"/>
                  </a:rPr>
                  <a:t> </a:t>
                </a:r>
                <a:endParaRPr lang="en-US" altLang="zh-CN" dirty="0">
                  <a:latin typeface="Quattrocento Sans" panose="020B0502050000020003" pitchFamily="34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Transfer between different graphons (domain shift)</a:t>
                </a:r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 lvl="2">
                  <a:lnSpc>
                    <a:spcPts val="3000"/>
                  </a:lnSpc>
                </a:pPr>
                <a:r>
                  <a:rPr lang="en-US" altLang="zh-CN" dirty="0">
                    <a:latin typeface="Quattrocento Sans" panose="020B0502050000020003" pitchFamily="34" charset="0"/>
                  </a:rPr>
                  <a:t>How robust is </a:t>
                </a:r>
                <a:r>
                  <a:rPr lang="en-US" altLang="zh-CN" dirty="0" err="1">
                    <a:latin typeface="Quattrocento Sans" panose="020B0502050000020003" pitchFamily="34" charset="0"/>
                  </a:rPr>
                  <a:t>GTrans</a:t>
                </a:r>
                <a:r>
                  <a:rPr lang="en-US" altLang="zh-CN" dirty="0">
                    <a:latin typeface="Quattrocento Sans" panose="020B0502050000020003" pitchFamily="34" charset="0"/>
                  </a:rPr>
                  <a:t> when source and target graphons differ?</a:t>
                </a:r>
                <a:r>
                  <a:rPr lang="zh-CN" altLang="en-US" dirty="0">
                    <a:latin typeface="Quattrocento Sans" panose="020B0502050000020003" pitchFamily="34" charset="0"/>
                  </a:rPr>
                  <a:t> </a:t>
                </a:r>
                <a:r>
                  <a:rPr lang="en-US" altLang="zh-CN" dirty="0">
                    <a:latin typeface="Quattrocento Sans" panose="020B0502050000020003" pitchFamily="34" charset="0"/>
                  </a:rPr>
                  <a:t>→ Test ability to avoid negative transfer.</a:t>
                </a:r>
              </a:p>
              <a:p>
                <a:pPr>
                  <a:lnSpc>
                    <a:spcPts val="3000"/>
                  </a:lnSpc>
                  <a:buSzPct val="40000"/>
                  <a:buFont typeface="Wingdings" pitchFamily="2" charset="2"/>
                  <a:buChar char="l"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Setup: 10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 representative graphons graphons</a:t>
                </a:r>
                <a:r>
                  <a:rPr lang="zh-CN" altLang="en-US" sz="2200" dirty="0">
                    <a:latin typeface="Quattrocento Sans" panose="020B0502050000020003" pitchFamily="34" charset="0"/>
                  </a:rPr>
                  <a:t>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2200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)</a:t>
                </a:r>
                <a:r>
                  <a:rPr lang="zh-CN" altLang="zh-CN" sz="2200" dirty="0">
                    <a:latin typeface="Quattrocento Sans" panose="020B0502050000020003" pitchFamily="34" charset="0"/>
                  </a:rPr>
                  <a:t>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with networks: </a:t>
                </a:r>
              </a:p>
              <a:p>
                <a:pPr marL="0" indent="0" algn="ctr">
                  <a:lnSpc>
                    <a:spcPts val="3000"/>
                  </a:lnSpc>
                  <a:buSzPct val="40000"/>
                  <a:buNone/>
                </a:pPr>
                <a:r>
                  <a:rPr lang="en-US" altLang="zh-CN" sz="2200" b="1" dirty="0">
                    <a:latin typeface="Quattrocento Sans" panose="020B05020500000200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zh-CN" sz="22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 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zh-CN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𝟎𝟏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200" b="1" i="1">
                            <a:latin typeface="Cambria Math" panose="02040503050406030204" pitchFamily="18" charset="0"/>
                          </a:rPr>
                          <m:t>𝟎𝟏</m:t>
                        </m:r>
                      </m:e>
                    </m:d>
                  </m:oMath>
                </a14:m>
                <a:endParaRPr lang="en-US" altLang="zh-CN" sz="2200" dirty="0">
                  <a:latin typeface="Quattrocento Sans" panose="020B0502050000020003" pitchFamily="34" charset="0"/>
                </a:endParaRPr>
              </a:p>
              <a:p>
                <a:pPr>
                  <a:lnSpc>
                    <a:spcPts val="3000"/>
                  </a:lnSpc>
                  <a:buSzPct val="40000"/>
                  <a:buFont typeface="Wingdings" pitchFamily="2" charset="2"/>
                  <a:buChar char="l"/>
                </a:pPr>
                <a:r>
                  <a:rPr lang="en-GB" altLang="zh-CN" sz="2200" b="1" dirty="0">
                    <a:latin typeface="Quattrocento Sans" panose="020B0502050000020003" pitchFamily="34" charset="0"/>
                  </a:rPr>
                  <a:t>Baseline:</a:t>
                </a:r>
                <a:r>
                  <a:rPr lang="en-GB" altLang="zh-CN" sz="2200" dirty="0">
                    <a:latin typeface="Quattrocento Sans" panose="020B0502050000020003" pitchFamily="34" charset="0"/>
                  </a:rPr>
                  <a:t>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NS</a:t>
                </a:r>
                <a:r>
                  <a:rPr lang="en-GB" altLang="zh-CN" sz="2200" baseline="30000" dirty="0">
                    <a:latin typeface="Quattrocento Sans" panose="020B0502050000020003" pitchFamily="34" charset="0"/>
                  </a:rPr>
                  <a:t>[1]</a:t>
                </a:r>
                <a:r>
                  <a:rPr lang="en-GB" altLang="zh-CN" sz="2200" dirty="0">
                    <a:latin typeface="Quattrocento Sans" panose="020B0502050000020003" pitchFamily="34" charset="0"/>
                  </a:rPr>
                  <a:t>,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SAS</a:t>
                </a:r>
                <a:r>
                  <a:rPr lang="en-GB" altLang="zh-CN" sz="2200" baseline="30000" dirty="0">
                    <a:latin typeface="Quattrocento Sans" panose="020B0502050000020003" pitchFamily="34" charset="0"/>
                  </a:rPr>
                  <a:t>[2]</a:t>
                </a:r>
                <a:r>
                  <a:rPr lang="en-GB" altLang="zh-CN" sz="2200" dirty="0">
                    <a:latin typeface="Quattrocento Sans" panose="020B0502050000020003" pitchFamily="34" charset="0"/>
                  </a:rPr>
                  <a:t>,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ICE</a:t>
                </a:r>
                <a:r>
                  <a:rPr lang="en-GB" altLang="zh-CN" sz="2200" baseline="30000" dirty="0">
                    <a:latin typeface="Quattrocento Sans" panose="020B0502050000020003" pitchFamily="34" charset="0"/>
                  </a:rPr>
                  <a:t>[3]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, USVT</a:t>
                </a:r>
                <a:r>
                  <a:rPr lang="en-GB" altLang="zh-CN" sz="2200" baseline="30000" dirty="0">
                    <a:latin typeface="Quattrocento Sans" panose="020B0502050000020003" pitchFamily="34" charset="0"/>
                  </a:rPr>
                  <a:t>[4]</a:t>
                </a:r>
                <a:endParaRPr lang="en-GB" altLang="zh-CN" sz="2200" dirty="0">
                  <a:latin typeface="Quattrocento Sans" panose="020B0502050000020003" pitchFamily="34" charset="0"/>
                </a:endParaRPr>
              </a:p>
              <a:p>
                <a:pPr>
                  <a:lnSpc>
                    <a:spcPts val="3000"/>
                  </a:lnSpc>
                  <a:buSzPct val="40000"/>
                  <a:buFont typeface="Wingdings" pitchFamily="2" charset="2"/>
                  <a:buChar char="l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Metric: Mean Squared Error (MSE), averaged over 50 runs</a:t>
                </a:r>
              </a:p>
            </p:txBody>
          </p:sp>
        </mc:Choice>
        <mc:Fallback xmlns="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7D232FD7-4377-4EAB-4966-86E9E17C4D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1" y="978958"/>
                <a:ext cx="11236821" cy="5147103"/>
              </a:xfrm>
              <a:prstGeom prst="rect">
                <a:avLst/>
              </a:prstGeom>
              <a:blipFill>
                <a:blip r:embed="rId3"/>
                <a:stretch>
                  <a:fillRect l="-790" t="-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67CB0F5-30F8-864E-FAA1-383D14432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939" y="-27803"/>
            <a:ext cx="1890061" cy="851080"/>
          </a:xfrm>
          <a:prstGeom prst="rect">
            <a:avLst/>
          </a:prstGeom>
        </p:spPr>
      </p:pic>
      <p:pic>
        <p:nvPicPr>
          <p:cNvPr id="7" name="Picture 2" descr="Press">
            <a:extLst>
              <a:ext uri="{FF2B5EF4-FFF2-40B4-BE49-F238E27FC236}">
                <a16:creationId xmlns:a16="http://schemas.microsoft.com/office/drawing/2014/main" id="{04C6223D-E9B3-7F2D-FA7A-FD580D13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439" y="5993283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241E350-30A7-C3E8-B40F-B2E695143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93" y="5837602"/>
            <a:ext cx="10630973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[1] Yuan Zhang, Elizaveta Levina, and Ji Zhu. Estimating network edge probabilities by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neighbourhood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smoothing.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Biometrika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104(4):771–783, 2017.591</a:t>
            </a:r>
          </a:p>
          <a:p>
            <a:pPr lvl="0"/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[2] Stanley Chan and Edoardo Airoldi. A consistent histogram estimator for exchangeable graph models. In Eric P. Xing and Tony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Jebara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editors, Proceedings of the 31st International Conference on Machine Learning, volume 32 of Proceedings of Machine Learning Research,448 pages 208–216, 22–24 Jun 2014. PMLR.449</a:t>
            </a:r>
          </a:p>
          <a:p>
            <a:pPr lvl="0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[3]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 Yichen Qin,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Linhan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Yu, and Yang Li. Iterative Connecting Probability Estimation for Networks. In Advances in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NeurIPS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volume 34, pages 1155–1166, 2021</a:t>
            </a:r>
          </a:p>
          <a:p>
            <a:pPr lvl="0"/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[4] Sourav Chatterjee. Matrix estimation by Universal Singular Value Thresholding. The Annals of Statistics, 43(1), 2015</a:t>
            </a:r>
          </a:p>
        </p:txBody>
      </p:sp>
    </p:spTree>
    <p:extLst>
      <p:ext uri="{BB962C8B-B14F-4D97-AF65-F5344CB8AC3E}">
        <p14:creationId xmlns:p14="http://schemas.microsoft.com/office/powerpoint/2010/main" val="56118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C835-D9AF-762F-DE24-FDA82D6A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13D85A54-2442-0ED5-4B8C-8090879F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16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020DAAA-1B71-3841-02F9-7CF1778B20A7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9F2CF5C4-EB10-1A7B-43FB-45851FF567C7}"/>
              </a:ext>
            </a:extLst>
          </p:cNvPr>
          <p:cNvSpPr/>
          <p:nvPr/>
        </p:nvSpPr>
        <p:spPr>
          <a:xfrm>
            <a:off x="128993" y="93224"/>
            <a:ext cx="1068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Results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 </a:t>
            </a:r>
            <a:r>
              <a:rPr lang="en-US" altLang="zh-CN" sz="4000" b="1" dirty="0">
                <a:latin typeface="Quattrocento Sans" panose="020B0502050000020003" pitchFamily="34" charset="0"/>
              </a:rPr>
              <a:t>within Identical Graphons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E8523ECE-035E-3746-90DC-1CC2AB4254B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1311" y="944304"/>
                <a:ext cx="10975658" cy="51471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Ø"/>
                  <a:defRPr sz="28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24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20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8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800" b="0" i="0" kern="1200">
                    <a:solidFill>
                      <a:schemeClr val="tx1"/>
                    </a:solidFill>
                    <a:latin typeface="Times New Roman" panose="02020603050405020304" charset="0"/>
                    <a:ea typeface="+mn-ea"/>
                    <a:cs typeface="Times New Roman" panose="0202060305040502030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MSE Comparison under Transfer within Identical Graphons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200" dirty="0" smtClean="0">
                        <a:latin typeface="Quattrocento Sans" panose="020B0502050000020003" pitchFamily="34" charset="0"/>
                      </a:rPr>
                      <m:t>n</m:t>
                    </m:r>
                    <m:r>
                      <m:rPr>
                        <m:nor/>
                      </m:rPr>
                      <a:rPr lang="en-US" altLang="zh-CN" sz="2200" dirty="0" smtClean="0">
                        <a:latin typeface="Quattrocento Sans" panose="020B0502050000020003" pitchFamily="34" charset="0"/>
                      </a:rPr>
                      <m:t>ₛ = {100,</m:t>
                    </m:r>
                    <m:r>
                      <a:rPr lang="en-US" altLang="zh-CN" sz="2200" dirty="0">
                        <a:latin typeface="Cambria Math" panose="02040503050406030204" pitchFamily="18" charset="0"/>
                      </a:rPr>
                      <m:t>…1000</m:t>
                    </m:r>
                    <m:r>
                      <m:rPr>
                        <m:lit/>
                      </m:rPr>
                      <a:rPr lang="en-US" altLang="zh-CN" sz="220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2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200" dirty="0">
                        <a:latin typeface="Quattrocento Sans" panose="020B0502050000020003" pitchFamily="34" charset="0"/>
                      </a:rPr>
                      <m:t>n</m:t>
                    </m:r>
                    <m:r>
                      <m:rPr>
                        <m:nor/>
                      </m:rPr>
                      <a:rPr lang="en-US" altLang="zh-CN" sz="2200" dirty="0">
                        <a:latin typeface="Quattrocento Sans" panose="020B0502050000020003" pitchFamily="34" charset="0"/>
                      </a:rPr>
                      <m:t>ₜ = 50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latin typeface="Quattrocento Sans" panose="020B0502050000020003" pitchFamily="34" charset="0"/>
                  <a:sym typeface="+mn-ea"/>
                </a:endParaRPr>
              </a:p>
              <a:p>
                <a:pPr algn="ctr">
                  <a:lnSpc>
                    <a:spcPct val="200000"/>
                  </a:lnSpc>
                  <a:buSzPct val="40000"/>
                  <a:buFont typeface="Wingdings" pitchFamily="2" charset="2"/>
                  <a:buChar char="l"/>
                </a:pPr>
                <a:endParaRPr lang="en-GB" altLang="zh-CN" sz="2200" dirty="0">
                  <a:latin typeface="Quattrocento Sans" panose="020B0502050000020003" pitchFamily="34" charset="0"/>
                </a:endParaRPr>
              </a:p>
            </p:txBody>
          </p:sp>
        </mc:Choice>
        <mc:Fallback xmlns="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E8523ECE-035E-3746-90DC-1CC2AB425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11" y="944304"/>
                <a:ext cx="10975658" cy="5147103"/>
              </a:xfrm>
              <a:prstGeom prst="rect">
                <a:avLst/>
              </a:prstGeom>
              <a:blipFill>
                <a:blip r:embed="rId3"/>
                <a:stretch>
                  <a:fillRect t="-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699E490-27E9-ADA0-DEAB-3FC229B6F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939" y="-27803"/>
            <a:ext cx="1890061" cy="851080"/>
          </a:xfrm>
          <a:prstGeom prst="rect">
            <a:avLst/>
          </a:prstGeom>
        </p:spPr>
      </p:pic>
      <p:pic>
        <p:nvPicPr>
          <p:cNvPr id="6" name="Picture 2" descr="Press">
            <a:extLst>
              <a:ext uri="{FF2B5EF4-FFF2-40B4-BE49-F238E27FC236}">
                <a16:creationId xmlns:a16="http://schemas.microsoft.com/office/drawing/2014/main" id="{219FFA4D-12CA-4B18-8114-48ACE9BB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94" y="5993283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 descr="日历&#10;&#10;AI 生成的内容可能不正确。">
            <a:extLst>
              <a:ext uri="{FF2B5EF4-FFF2-40B4-BE49-F238E27FC236}">
                <a16:creationId xmlns:a16="http://schemas.microsoft.com/office/drawing/2014/main" id="{D3BFB9CF-E348-1E84-11BC-4F050C3B60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89" b="2284"/>
          <a:stretch>
            <a:fillRect/>
          </a:stretch>
        </p:blipFill>
        <p:spPr>
          <a:xfrm>
            <a:off x="533817" y="1399509"/>
            <a:ext cx="10905066" cy="4236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AD9EC9C-4616-F20A-A04D-4CF99488EAF2}"/>
                  </a:ext>
                </a:extLst>
              </p:cNvPr>
              <p:cNvSpPr txBox="1"/>
              <p:nvPr/>
            </p:nvSpPr>
            <p:spPr>
              <a:xfrm>
                <a:off x="639338" y="5627337"/>
                <a:ext cx="10694023" cy="1089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ts val="41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b="1" dirty="0" err="1">
                    <a:latin typeface="Quattrocento Sans" panose="020B0502050000020003" pitchFamily="34" charset="0"/>
                  </a:rPr>
                  <a:t>GTrans</a:t>
                </a:r>
                <a:r>
                  <a:rPr lang="en-US" altLang="zh-CN" sz="2200" b="1" dirty="0">
                    <a:latin typeface="Quattrocento Sans" panose="020B0502050000020003" pitchFamily="34" charset="0"/>
                  </a:rPr>
                  <a:t>-GW / </a:t>
                </a:r>
                <a:r>
                  <a:rPr lang="en-US" altLang="zh-CN" sz="2200" b="1" dirty="0" err="1">
                    <a:latin typeface="Quattrocento Sans" panose="020B0502050000020003" pitchFamily="34" charset="0"/>
                  </a:rPr>
                  <a:t>GTrans</a:t>
                </a:r>
                <a:r>
                  <a:rPr lang="en-US" altLang="zh-CN" sz="2200" b="1" dirty="0">
                    <a:latin typeface="Quattrocento Sans" panose="020B0502050000020003" pitchFamily="34" charset="0"/>
                  </a:rPr>
                  <a:t>-EGW 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consistently achieve lowest MSE.</a:t>
                </a:r>
              </a:p>
              <a:p>
                <a:pPr marL="342900" lvl="0" indent="-342900">
                  <a:lnSpc>
                    <a:spcPts val="41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latin typeface="Quattrocento Sans" panose="020B0502050000020003" pitchFamily="34" charset="0"/>
                  </a:rPr>
                  <a:t>For </a:t>
                </a:r>
                <a:r>
                  <a:rPr lang="en-US" altLang="zh-CN" sz="2200" i="1" dirty="0">
                    <a:latin typeface="Quattrocento Sans" panose="020B0502050000020003" pitchFamily="34" charset="0"/>
                  </a:rPr>
                  <a:t>same graphons</a:t>
                </a:r>
                <a:r>
                  <a:rPr lang="en-US" altLang="zh-CN" sz="2200" dirty="0">
                    <a:latin typeface="Quattrocento Sans" panose="020B0502050000020003" pitchFamily="34" charset="0"/>
                  </a:rPr>
                  <a:t>: clear error reduction with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2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altLang="zh-CN" sz="2200" dirty="0">
                  <a:latin typeface="Quattrocento Sans" panose="020B0502050000020003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AD9EC9C-4616-F20A-A04D-4CF99488E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38" y="5627337"/>
                <a:ext cx="10694023" cy="1089850"/>
              </a:xfrm>
              <a:prstGeom prst="rect">
                <a:avLst/>
              </a:prstGeom>
              <a:blipFill>
                <a:blip r:embed="rId7"/>
                <a:stretch>
                  <a:fillRect l="-712" b="-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625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DC4B7-CC22-C4AB-B6C4-4E7640BB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E356BF9C-E271-6C36-ACDA-25B31685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17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214C26C-BBA2-F17B-A76F-5E2758A3FFA0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B4426057-A48A-277B-5D1B-198FA983A195}"/>
              </a:ext>
            </a:extLst>
          </p:cNvPr>
          <p:cNvSpPr/>
          <p:nvPr/>
        </p:nvSpPr>
        <p:spPr>
          <a:xfrm>
            <a:off x="128993" y="93224"/>
            <a:ext cx="1068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SimHei" panose="02010609060101010101" pitchFamily="49" charset="-122"/>
              </a:rPr>
              <a:t>Results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SimHei" panose="02010609060101010101" pitchFamily="49" charset="-122"/>
              </a:rPr>
              <a:t> </a:t>
            </a:r>
            <a:r>
              <a:rPr lang="en-US" altLang="zh-CN" sz="4000" b="1" dirty="0">
                <a:latin typeface="Quattrocento Sans" panose="020B0502050000020003" pitchFamily="34" charset="0"/>
                <a:ea typeface="SimHei" panose="02010609060101010101" pitchFamily="49" charset="-122"/>
              </a:rPr>
              <a:t>between different graphons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SimHei" panose="02010609060101010101" pitchFamily="49" charset="-122"/>
              </a:rPr>
              <a:t>: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65D0608-28C9-A37A-FAD5-693F353EA7E8}"/>
              </a:ext>
            </a:extLst>
          </p:cNvPr>
          <p:cNvSpPr>
            <a:spLocks noGrp="1"/>
          </p:cNvSpPr>
          <p:nvPr/>
        </p:nvSpPr>
        <p:spPr>
          <a:xfrm>
            <a:off x="351411" y="845445"/>
            <a:ext cx="10975658" cy="71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200" dirty="0">
                <a:latin typeface="Quattrocento Sans" panose="020B0502050000020003" pitchFamily="34" charset="0"/>
              </a:rPr>
              <a:t>MSE comparison for Transfer between different graphons (nₛ = 500, nₜ = 50)</a:t>
            </a:r>
          </a:p>
          <a:p>
            <a:pPr algn="ctr">
              <a:lnSpc>
                <a:spcPct val="200000"/>
              </a:lnSpc>
              <a:buSzPct val="40000"/>
              <a:buFont typeface="Wingdings" pitchFamily="2" charset="2"/>
              <a:buChar char="l"/>
            </a:pPr>
            <a:endParaRPr lang="en-GB" altLang="zh-CN" sz="2200" dirty="0">
              <a:latin typeface="Quattrocento Sans" panose="020B0502050000020003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E0C88A-B18D-D158-B998-E3F7B8FD2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939" y="-27803"/>
            <a:ext cx="1890061" cy="851080"/>
          </a:xfrm>
          <a:prstGeom prst="rect">
            <a:avLst/>
          </a:prstGeom>
        </p:spPr>
      </p:pic>
      <p:pic>
        <p:nvPicPr>
          <p:cNvPr id="6" name="Picture 2" descr="Press">
            <a:extLst>
              <a:ext uri="{FF2B5EF4-FFF2-40B4-BE49-F238E27FC236}">
                <a16:creationId xmlns:a16="http://schemas.microsoft.com/office/drawing/2014/main" id="{08FB4A29-0167-9330-BB61-A39BCCBF8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439" y="5993283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B2FACD-ABAD-5296-3F1E-367A93260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945305"/>
              </p:ext>
            </p:extLst>
          </p:nvPr>
        </p:nvGraphicFramePr>
        <p:xfrm>
          <a:off x="351411" y="1563751"/>
          <a:ext cx="11489178" cy="3763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3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3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5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5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4925"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Similarity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Scenario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 err="1"/>
                        <a:t>GT</a:t>
                      </a:r>
                      <a:r>
                        <a:rPr lang="en-US" sz="2200" dirty="0" err="1"/>
                        <a:t>rans</a:t>
                      </a:r>
                      <a:r>
                        <a:rPr sz="2200" dirty="0"/>
                        <a:t>-GW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 err="1"/>
                        <a:t>GT</a:t>
                      </a:r>
                      <a:r>
                        <a:rPr lang="en-US" sz="2200" dirty="0" err="1"/>
                        <a:t>rans</a:t>
                      </a:r>
                      <a:r>
                        <a:rPr sz="2200" dirty="0"/>
                        <a:t>-EGW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USVT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SAS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382">
                <a:tc rowSpan="4">
                  <a:txBody>
                    <a:bodyPr/>
                    <a:lstStyle/>
                    <a:p>
                      <a:pPr algn="ctr"/>
                      <a:r>
                        <a:rPr sz="2200" dirty="0"/>
                        <a:t>Similar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7 →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>
                          <a:solidFill>
                            <a:srgbClr val="C00000"/>
                          </a:solidFill>
                        </a:rPr>
                        <a:t>0.9 ± 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1.0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2.1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3.0 ± 0.9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1.7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1.6 ± 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382">
                <a:tc vMerge="1">
                  <a:txBody>
                    <a:bodyPr/>
                    <a:lstStyle/>
                    <a:p>
                      <a:pPr algn="ctr"/>
                      <a:endParaRPr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6 →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1.8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1.8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2.3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5.9 ± 2.7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2.2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2.4 ± 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382">
                <a:tc vMerge="1">
                  <a:txBody>
                    <a:bodyPr/>
                    <a:lstStyle/>
                    <a:p>
                      <a:pPr algn="ctr"/>
                      <a:endParaRPr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8 →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>
                          <a:solidFill>
                            <a:srgbClr val="C00000"/>
                          </a:solidFill>
                        </a:rPr>
                        <a:t>1.3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1.4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2.3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5.9 ± 2.7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2.2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2.4 ± 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382">
                <a:tc vMerge="1">
                  <a:txBody>
                    <a:bodyPr/>
                    <a:lstStyle/>
                    <a:p>
                      <a:pPr algn="ctr"/>
                      <a:endParaRPr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3 →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>
                          <a:solidFill>
                            <a:srgbClr val="C00000"/>
                          </a:solidFill>
                        </a:rPr>
                        <a:t>1.6 ± 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1.7 ± 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2.5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5.1 ± 4.6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2.7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2.1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382">
                <a:tc rowSpan="2">
                  <a:txBody>
                    <a:bodyPr/>
                    <a:lstStyle/>
                    <a:p>
                      <a:pPr algn="ctr"/>
                      <a:r>
                        <a:rPr sz="2200" dirty="0"/>
                        <a:t>Different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10 →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1.6 ± 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>
                          <a:solidFill>
                            <a:srgbClr val="C00000"/>
                          </a:solidFill>
                        </a:rPr>
                        <a:t>1.5 ± 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1.7 ± 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3.5 ± 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1.7 ± 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/>
                        <a:t>5.5 ± 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6382">
                <a:tc vMerge="1">
                  <a:txBody>
                    <a:bodyPr/>
                    <a:lstStyle/>
                    <a:p>
                      <a:pPr algn="ctr"/>
                      <a:endParaRPr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5 →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2.6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>
                          <a:solidFill>
                            <a:srgbClr val="C00000"/>
                          </a:solidFill>
                        </a:rPr>
                        <a:t>2.5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3.1 ± 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5.3 ± 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2.8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dirty="0"/>
                        <a:t>2.6 ± 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DCBDC0B-FC7A-251F-67F9-1326CB73DDBC}"/>
              </a:ext>
            </a:extLst>
          </p:cNvPr>
          <p:cNvSpPr txBox="1"/>
          <p:nvPr/>
        </p:nvSpPr>
        <p:spPr>
          <a:xfrm>
            <a:off x="351411" y="5506120"/>
            <a:ext cx="10694023" cy="1099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4100"/>
              </a:lnSpc>
              <a:buFont typeface="Arial" panose="020B0604020202020204" pitchFamily="34" charset="0"/>
              <a:buChar char="•"/>
            </a:pPr>
            <a:r>
              <a:rPr lang="en-US" altLang="zh-CN" sz="2200" b="1" dirty="0" err="1">
                <a:latin typeface="Quattrocento Sans" panose="020B0502050000020003" pitchFamily="34" charset="0"/>
              </a:rPr>
              <a:t>GTrans</a:t>
            </a:r>
            <a:r>
              <a:rPr lang="en-US" altLang="zh-CN" sz="2200" b="1" dirty="0">
                <a:latin typeface="Quattrocento Sans" panose="020B0502050000020003" pitchFamily="34" charset="0"/>
              </a:rPr>
              <a:t>-GW / </a:t>
            </a:r>
            <a:r>
              <a:rPr lang="en-US" altLang="zh-CN" sz="2200" b="1" dirty="0" err="1">
                <a:latin typeface="Quattrocento Sans" panose="020B0502050000020003" pitchFamily="34" charset="0"/>
              </a:rPr>
              <a:t>GTrans</a:t>
            </a:r>
            <a:r>
              <a:rPr lang="en-US" altLang="zh-CN" sz="2200" b="1" dirty="0">
                <a:latin typeface="Quattrocento Sans" panose="020B0502050000020003" pitchFamily="34" charset="0"/>
              </a:rPr>
              <a:t>-EGW </a:t>
            </a:r>
            <a:r>
              <a:rPr lang="en-US" altLang="zh-CN" sz="2200" dirty="0">
                <a:latin typeface="Quattrocento Sans" panose="020B0502050000020003" pitchFamily="34" charset="0"/>
              </a:rPr>
              <a:t>consistently achieve lowest MSE. </a:t>
            </a:r>
          </a:p>
          <a:p>
            <a:pPr marL="342900" lvl="0" indent="-342900">
              <a:lnSpc>
                <a:spcPts val="4100"/>
              </a:lnSpc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</a:rPr>
              <a:t>For </a:t>
            </a:r>
            <a:r>
              <a:rPr lang="en-US" altLang="zh-CN" sz="2200" i="1" dirty="0">
                <a:latin typeface="Quattrocento Sans" panose="020B0502050000020003" pitchFamily="34" charset="0"/>
              </a:rPr>
              <a:t>different graphons</a:t>
            </a:r>
            <a:r>
              <a:rPr lang="en-US" altLang="zh-CN" sz="2200" dirty="0">
                <a:latin typeface="Quattrocento Sans" panose="020B0502050000020003" pitchFamily="34" charset="0"/>
              </a:rPr>
              <a:t>: adaptive debiasing prevents negative transfer.</a:t>
            </a:r>
          </a:p>
        </p:txBody>
      </p:sp>
    </p:spTree>
    <p:extLst>
      <p:ext uri="{BB962C8B-B14F-4D97-AF65-F5344CB8AC3E}">
        <p14:creationId xmlns:p14="http://schemas.microsoft.com/office/powerpoint/2010/main" val="250293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18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28993" y="93224"/>
            <a:ext cx="1068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rPr>
              <a:t>Link Prediction </a:t>
            </a: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</a:rPr>
              <a:t>Experiments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Setup</a:t>
            </a:r>
          </a:p>
        </p:txBody>
      </p:sp>
      <p:sp>
        <p:nvSpPr>
          <p:cNvPr id="13" name="内容占位符 2"/>
          <p:cNvSpPr>
            <a:spLocks noGrp="1"/>
          </p:cNvSpPr>
          <p:nvPr/>
        </p:nvSpPr>
        <p:spPr>
          <a:xfrm>
            <a:off x="510894" y="1389470"/>
            <a:ext cx="10975658" cy="5147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</a:pPr>
            <a:r>
              <a:rPr lang="en-US" altLang="zh-CN" sz="2200" b="1" dirty="0">
                <a:latin typeface="Quattrocento Sans" panose="020B0502050000020003" pitchFamily="34" charset="0"/>
              </a:rPr>
              <a:t>Task: </a:t>
            </a:r>
            <a:r>
              <a:rPr lang="en-US" altLang="zh-CN" sz="2200" dirty="0">
                <a:latin typeface="Quattrocento Sans" panose="020B0502050000020003" pitchFamily="34" charset="0"/>
              </a:rPr>
              <a:t>Predict missing/future edges; evaluate by AUC</a:t>
            </a:r>
          </a:p>
          <a:p>
            <a:pPr>
              <a:lnSpc>
                <a:spcPts val="3200"/>
              </a:lnSpc>
            </a:pPr>
            <a:r>
              <a:rPr lang="en-US" altLang="zh-CN" sz="2200" b="1" dirty="0">
                <a:latin typeface="Quattrocento Sans" panose="020B0502050000020003" pitchFamily="34" charset="0"/>
              </a:rPr>
              <a:t>Datasets: </a:t>
            </a:r>
          </a:p>
          <a:p>
            <a:pPr lvl="1">
              <a:lnSpc>
                <a:spcPts val="3200"/>
              </a:lnSpc>
            </a:pPr>
            <a:r>
              <a:rPr lang="en-US" altLang="zh-CN" sz="2200" dirty="0">
                <a:latin typeface="Quattrocento Sans" panose="020B0502050000020003" pitchFamily="34" charset="0"/>
              </a:rPr>
              <a:t>5 social networks: dolphins, karate, football, firm, wiki-vote</a:t>
            </a:r>
          </a:p>
          <a:p>
            <a:pPr lvl="1">
              <a:lnSpc>
                <a:spcPts val="3200"/>
              </a:lnSpc>
            </a:pPr>
            <a:r>
              <a:rPr lang="en-US" altLang="zh-CN" sz="2200" dirty="0">
                <a:latin typeface="Quattrocento Sans" panose="020B0502050000020003" pitchFamily="34" charset="0"/>
              </a:rPr>
              <a:t>Nodes range: 33 (firm) → 2,375 (wiki-vote)</a:t>
            </a:r>
          </a:p>
          <a:p>
            <a:pPr lvl="1">
              <a:lnSpc>
                <a:spcPts val="3200"/>
              </a:lnSpc>
            </a:pPr>
            <a:r>
              <a:rPr lang="en-US" altLang="zh-CN" sz="2200" dirty="0">
                <a:latin typeface="Quattrocento Sans" panose="020B0502050000020003" pitchFamily="34" charset="0"/>
              </a:rPr>
              <a:t>Wiki-vote chosen as </a:t>
            </a:r>
            <a:r>
              <a:rPr lang="en-US" altLang="zh-CN" sz="2200" b="1" dirty="0">
                <a:latin typeface="Quattrocento Sans" panose="020B0502050000020003" pitchFamily="34" charset="0"/>
              </a:rPr>
              <a:t>source</a:t>
            </a:r>
            <a:r>
              <a:rPr lang="en-US" altLang="zh-CN" sz="2200" dirty="0">
                <a:latin typeface="Quattrocento Sans" panose="020B0502050000020003" pitchFamily="34" charset="0"/>
              </a:rPr>
              <a:t>, others as </a:t>
            </a:r>
            <a:r>
              <a:rPr lang="en-US" altLang="zh-CN" sz="2200" b="1" dirty="0">
                <a:latin typeface="Quattrocento Sans" panose="020B0502050000020003" pitchFamily="34" charset="0"/>
              </a:rPr>
              <a:t>targets</a:t>
            </a:r>
            <a:endParaRPr lang="en-US" altLang="zh-CN" sz="2200" dirty="0">
              <a:latin typeface="Quattrocento Sans" panose="020B0502050000020003" pitchFamily="34" charset="0"/>
            </a:endParaRPr>
          </a:p>
          <a:p>
            <a:pPr>
              <a:lnSpc>
                <a:spcPts val="3200"/>
              </a:lnSpc>
            </a:pPr>
            <a:r>
              <a:rPr lang="en-GB" altLang="zh-CN" sz="2200" b="1" dirty="0">
                <a:latin typeface="Quattrocento Sans" panose="020B0502050000020003" pitchFamily="34" charset="0"/>
              </a:rPr>
              <a:t>Baseline:</a:t>
            </a:r>
            <a:r>
              <a:rPr lang="en-GB" altLang="zh-CN" sz="2200" dirty="0">
                <a:latin typeface="Quattrocento Sans" panose="020B0502050000020003" pitchFamily="34" charset="0"/>
              </a:rPr>
              <a:t> </a:t>
            </a:r>
            <a:r>
              <a:rPr lang="en-US" altLang="zh-CN" sz="2200" dirty="0">
                <a:latin typeface="Quattrocento Sans" panose="020B0502050000020003" pitchFamily="34" charset="0"/>
              </a:rPr>
              <a:t>NS</a:t>
            </a:r>
            <a:r>
              <a:rPr lang="en-GB" altLang="zh-CN" sz="2200" baseline="30000" dirty="0">
                <a:latin typeface="Quattrocento Sans" panose="020B0502050000020003" pitchFamily="34" charset="0"/>
              </a:rPr>
              <a:t>[1]</a:t>
            </a:r>
            <a:r>
              <a:rPr lang="en-GB" altLang="zh-CN" sz="2200" dirty="0">
                <a:latin typeface="Quattrocento Sans" panose="020B0502050000020003" pitchFamily="34" charset="0"/>
              </a:rPr>
              <a:t>, </a:t>
            </a:r>
            <a:r>
              <a:rPr lang="en-US" altLang="zh-CN" sz="2200" dirty="0">
                <a:latin typeface="Quattrocento Sans" panose="020B0502050000020003" pitchFamily="34" charset="0"/>
              </a:rPr>
              <a:t>SAS</a:t>
            </a:r>
            <a:r>
              <a:rPr lang="en-GB" altLang="zh-CN" sz="2200" baseline="30000" dirty="0">
                <a:latin typeface="Quattrocento Sans" panose="020B0502050000020003" pitchFamily="34" charset="0"/>
              </a:rPr>
              <a:t>[2]</a:t>
            </a:r>
            <a:r>
              <a:rPr lang="en-GB" altLang="zh-CN" sz="2200" dirty="0">
                <a:latin typeface="Quattrocento Sans" panose="020B0502050000020003" pitchFamily="34" charset="0"/>
              </a:rPr>
              <a:t>, </a:t>
            </a:r>
            <a:r>
              <a:rPr lang="en-US" altLang="zh-CN" sz="2200" dirty="0">
                <a:latin typeface="Quattrocento Sans" panose="020B0502050000020003" pitchFamily="34" charset="0"/>
              </a:rPr>
              <a:t>ICE</a:t>
            </a:r>
            <a:r>
              <a:rPr lang="en-GB" altLang="zh-CN" sz="2200" baseline="30000" dirty="0">
                <a:latin typeface="Quattrocento Sans" panose="020B0502050000020003" pitchFamily="34" charset="0"/>
              </a:rPr>
              <a:t>[3]</a:t>
            </a:r>
            <a:r>
              <a:rPr lang="en-US" altLang="zh-CN" sz="2200" dirty="0">
                <a:latin typeface="Quattrocento Sans" panose="020B0502050000020003" pitchFamily="34" charset="0"/>
              </a:rPr>
              <a:t>, USVT</a:t>
            </a:r>
            <a:r>
              <a:rPr lang="en-GB" altLang="zh-CN" sz="2200" baseline="30000" dirty="0">
                <a:latin typeface="Quattrocento Sans" panose="020B0502050000020003" pitchFamily="34" charset="0"/>
              </a:rPr>
              <a:t>[4]</a:t>
            </a:r>
            <a:endParaRPr lang="en-GB" altLang="zh-CN" sz="2200" dirty="0">
              <a:latin typeface="Quattrocento Sans" panose="020B0502050000020003" pitchFamily="34" charset="0"/>
            </a:endParaRPr>
          </a:p>
          <a:p>
            <a:pPr>
              <a:lnSpc>
                <a:spcPts val="3200"/>
              </a:lnSpc>
            </a:pPr>
            <a:r>
              <a:rPr lang="en-GB" altLang="zh-CN" sz="2200" b="1" dirty="0">
                <a:latin typeface="Quattrocento Sans" panose="020B0502050000020003" pitchFamily="34" charset="0"/>
              </a:rPr>
              <a:t>Evaluation Metrics</a:t>
            </a:r>
            <a:r>
              <a:rPr lang="en-US" altLang="zh-CN" sz="2200" b="1" dirty="0">
                <a:latin typeface="Quattrocento Sans" panose="020B0502050000020003" pitchFamily="34" charset="0"/>
              </a:rPr>
              <a:t>: </a:t>
            </a:r>
            <a:r>
              <a:rPr lang="en-US" altLang="zh-CN" sz="2200" dirty="0">
                <a:latin typeface="Quattrocento Sans" panose="020B0502050000020003" pitchFamily="34" charset="0"/>
              </a:rPr>
              <a:t>Each experiment repeated 50 times, report averaged AUC</a:t>
            </a:r>
          </a:p>
          <a:p>
            <a:pPr>
              <a:lnSpc>
                <a:spcPts val="3200"/>
              </a:lnSpc>
            </a:pPr>
            <a:endParaRPr lang="en-GB" altLang="zh-CN" sz="2200" dirty="0">
              <a:latin typeface="Quattrocento Sans" panose="020B0502050000020003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9C851F-DC77-31AA-C32D-B2715455F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939" y="-27803"/>
            <a:ext cx="1890061" cy="851080"/>
          </a:xfrm>
          <a:prstGeom prst="rect">
            <a:avLst/>
          </a:prstGeom>
        </p:spPr>
      </p:pic>
      <p:pic>
        <p:nvPicPr>
          <p:cNvPr id="6" name="Picture 2" descr="Press">
            <a:extLst>
              <a:ext uri="{FF2B5EF4-FFF2-40B4-BE49-F238E27FC236}">
                <a16:creationId xmlns:a16="http://schemas.microsoft.com/office/drawing/2014/main" id="{554FE76F-F35B-14B3-0B7E-7B75DF030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439" y="5993283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8109F6-025E-EB5F-2E39-7280C762C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93" y="5656780"/>
            <a:ext cx="10630973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[1] Yuan Zhang, Elizaveta Levina, and Ji Zhu. Estimating network edge probabilities by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neighbourhood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smoothing.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Biometrika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104(4):771–783, 2017.591</a:t>
            </a:r>
          </a:p>
          <a:p>
            <a:pPr lvl="0"/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[2] Stanley Chan and Edoardo Airoldi. A consistent histogram estimator for exchangeable graph models. In Eric P. Xing and Tony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Jebara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editors, Proceedings of the 31st International Conference on Machine Learning, volume 32 of Proceedings of Machine Learning Research,448 pages 208–216, 22–24 Jun 2014. PMLR.449</a:t>
            </a:r>
          </a:p>
          <a:p>
            <a:pPr lvl="0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[3]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 Yichen Qin,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Linhan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Yu, and Yang Li. Iterative Connecting Probability Estimation for Networks. In Advances in </a:t>
            </a:r>
            <a:r>
              <a:rPr lang="en-US" altLang="zh-CN" sz="12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NeurIPS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volume 34, pages 1155–1166, 2021</a:t>
            </a:r>
          </a:p>
          <a:p>
            <a:pPr lvl="0"/>
            <a:r>
              <a:rPr lang="en-US" altLang="zh-CN" sz="12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[4] Sourav Chatterjee. Matrix estimation by Universal Singular Value Thresholding. The Annals of Statistics, 43(1), 2015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412C-1F4B-9BED-9585-9E104D2F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22F3A5E3-8234-5EAC-EEDB-E43210AD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19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7105FB9-4F76-8E5D-3246-5FC387ADF792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EB8EB95-F682-7B39-2168-C2A34A8FA9BB}"/>
              </a:ext>
            </a:extLst>
          </p:cNvPr>
          <p:cNvSpPr txBox="1"/>
          <p:nvPr/>
        </p:nvSpPr>
        <p:spPr>
          <a:xfrm>
            <a:off x="653451" y="5775409"/>
            <a:ext cx="11153282" cy="5421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200" dirty="0" err="1">
                <a:latin typeface="Quattrocento Sans" panose="020B0502050000020003" pitchFamily="34" charset="0"/>
              </a:rPr>
              <a:t>GTrans</a:t>
            </a:r>
            <a:r>
              <a:rPr lang="en-US" altLang="zh-CN" sz="2200" dirty="0">
                <a:latin typeface="Quattrocento Sans" panose="020B0502050000020003" pitchFamily="34" charset="0"/>
              </a:rPr>
              <a:t> consistently outperforms baselines (NS, SAS, USVT, ICE)</a:t>
            </a:r>
            <a:endParaRPr sz="2200" dirty="0">
              <a:latin typeface="Quattrocento Sans" panose="020B0502050000020003" pitchFamily="3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2BFCE41-64A3-FE2C-220D-080D63581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939" y="-27803"/>
            <a:ext cx="1890061" cy="851080"/>
          </a:xfrm>
          <a:prstGeom prst="rect">
            <a:avLst/>
          </a:prstGeom>
        </p:spPr>
      </p:pic>
      <p:pic>
        <p:nvPicPr>
          <p:cNvPr id="17" name="Picture 2" descr="Press">
            <a:extLst>
              <a:ext uri="{FF2B5EF4-FFF2-40B4-BE49-F238E27FC236}">
                <a16:creationId xmlns:a16="http://schemas.microsoft.com/office/drawing/2014/main" id="{3D764B50-B7FD-FA1B-EF8B-B295FDD26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439" y="5993283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A3C995B-6BDD-952A-A6D8-D4C7701E6E5D}"/>
                  </a:ext>
                </a:extLst>
              </p:cNvPr>
              <p:cNvSpPr txBox="1"/>
              <p:nvPr/>
            </p:nvSpPr>
            <p:spPr>
              <a:xfrm>
                <a:off x="1600201" y="1205866"/>
                <a:ext cx="981967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200" dirty="0">
                    <a:latin typeface="Quattrocento Sans" panose="020B0502050000020003" pitchFamily="34" charset="0"/>
                  </a:rPr>
                  <a:t>Link prediction AUC (%): Real Networks, with source wiki-vote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200" b="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2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200" dirty="0">
                    <a:latin typeface="Quattrocento Sans" panose="020B0502050000020003" pitchFamily="34" charset="0"/>
                  </a:rPr>
                  <a:t>= 889):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A3C995B-6BDD-952A-A6D8-D4C7701E6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1" y="1205866"/>
                <a:ext cx="9819670" cy="430887"/>
              </a:xfrm>
              <a:prstGeom prst="rect">
                <a:avLst/>
              </a:prstGeom>
              <a:blipFill>
                <a:blip r:embed="rId5"/>
                <a:stretch>
                  <a:fillRect l="-775" t="-11765" b="-26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4A5BEA63-CD48-6F91-E7F6-A83909B9B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134134"/>
              </p:ext>
            </p:extLst>
          </p:nvPr>
        </p:nvGraphicFramePr>
        <p:xfrm>
          <a:off x="548671" y="1866216"/>
          <a:ext cx="11258062" cy="38502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3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2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85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9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6783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latin typeface="Quattrocento Sans" panose="020B0502050000020003" pitchFamily="34" charset="0"/>
                        </a:rPr>
                        <a:t>GT</a:t>
                      </a:r>
                      <a:r>
                        <a:rPr lang="en-US" sz="2000" dirty="0" err="1">
                          <a:latin typeface="Quattrocento Sans" panose="020B0502050000020003" pitchFamily="34" charset="0"/>
                        </a:rPr>
                        <a:t>rans</a:t>
                      </a:r>
                      <a:r>
                        <a:rPr sz="2000" dirty="0">
                          <a:latin typeface="Quattrocento Sans" panose="020B0502050000020003" pitchFamily="34" charset="0"/>
                        </a:rPr>
                        <a:t>-GW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latin typeface="Quattrocento Sans" panose="020B0502050000020003" pitchFamily="34" charset="0"/>
                        </a:rPr>
                        <a:t>GT</a:t>
                      </a:r>
                      <a:r>
                        <a:rPr lang="en-US" sz="2000" dirty="0" err="1">
                          <a:latin typeface="Quattrocento Sans" panose="020B0502050000020003" pitchFamily="34" charset="0"/>
                        </a:rPr>
                        <a:t>rans</a:t>
                      </a:r>
                      <a:r>
                        <a:rPr sz="2000" dirty="0">
                          <a:latin typeface="Quattrocento Sans" panose="020B0502050000020003" pitchFamily="34" charset="0"/>
                        </a:rPr>
                        <a:t>-EGW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USVT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SAS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463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Dolphins </a:t>
                      </a:r>
                      <a:endParaRPr lang="en-US" sz="2000" dirty="0">
                        <a:latin typeface="Quattrocento Sans" panose="020B0502050000020003" pitchFamily="34" charset="0"/>
                      </a:endParaRPr>
                    </a:p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(nₜ = 62)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75.96 ± 8.53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C00000"/>
                          </a:solidFill>
                          <a:latin typeface="Quattrocento Sans" panose="020B0502050000020003" pitchFamily="34" charset="0"/>
                        </a:rPr>
                        <a:t>76.26 ± 8.54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70.60 ± 9.01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72.36 ± 10.16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50.66 ± 6.35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75.36 ± 8.40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83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Firm </a:t>
                      </a:r>
                      <a:endParaRPr lang="en-US" sz="2000" dirty="0">
                        <a:latin typeface="Quattrocento Sans" panose="020B0502050000020003" pitchFamily="34" charset="0"/>
                      </a:endParaRPr>
                    </a:p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(nₜ = 33)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C00000"/>
                          </a:solidFill>
                          <a:latin typeface="Quattrocento Sans" panose="020B0502050000020003" pitchFamily="34" charset="0"/>
                        </a:rPr>
                        <a:t>71.31 ± 12.18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71.26 ± 12.06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66.32 ± 12.27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65.56 ± 12.25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54.90 ± 7.59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64.26 ± 12.20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463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Football </a:t>
                      </a:r>
                      <a:endParaRPr lang="en-US" sz="2000" dirty="0">
                        <a:latin typeface="Quattrocento Sans" panose="020B0502050000020003" pitchFamily="34" charset="0"/>
                      </a:endParaRPr>
                    </a:p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(nₜ = 115)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86.64 ± 3.66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86.74 ± 3.72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86.75 ± 3.49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85.32 ± 3.56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44.56 ± 7.38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82.46 ± 4.59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463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Karate</a:t>
                      </a:r>
                      <a:endParaRPr lang="en-US" sz="2000" dirty="0">
                        <a:latin typeface="Quattrocento Sans" panose="020B0502050000020003" pitchFamily="34" charset="0"/>
                      </a:endParaRPr>
                    </a:p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 (nₜ = 34)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82.47 ± 10.36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C00000"/>
                          </a:solidFill>
                          <a:latin typeface="Quattrocento Sans" panose="020B0502050000020003" pitchFamily="34" charset="0"/>
                        </a:rPr>
                        <a:t>82.53 ± 10.46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76.74 ± 12.01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71.86 ± 15.20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latin typeface="Quattrocento Sans" panose="020B0502050000020003" pitchFamily="34" charset="0"/>
                        </a:rPr>
                        <a:t>63.88 ± 11.15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latin typeface="Quattrocento Sans" panose="020B0502050000020003" pitchFamily="34" charset="0"/>
                        </a:rPr>
                        <a:t>80.43 ± 11.22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7D7698B-A274-6C0A-012F-5C68BB324543}"/>
              </a:ext>
            </a:extLst>
          </p:cNvPr>
          <p:cNvSpPr/>
          <p:nvPr/>
        </p:nvSpPr>
        <p:spPr>
          <a:xfrm>
            <a:off x="128993" y="93224"/>
            <a:ext cx="1068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rPr>
              <a:t>Link Prediction </a:t>
            </a: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</a:rPr>
              <a:t>Experiments Results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Quattrocento Sans" panose="020B0502050000020003" pitchFamily="34" charset="0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497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1D36-2E02-982A-A236-A8C32D877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E817D29-AB1E-13A3-8351-4D304664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6A8ECFA-BA11-8BAA-A902-8B17DC4223B8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B28D5E33-85F1-9D8D-B10B-5BCEE36F04F5}"/>
              </a:ext>
            </a:extLst>
          </p:cNvPr>
          <p:cNvSpPr/>
          <p:nvPr/>
        </p:nvSpPr>
        <p:spPr>
          <a:xfrm>
            <a:off x="128993" y="93224"/>
            <a:ext cx="1068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rPr>
              <a:t>Graph Classification </a:t>
            </a: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</a:rPr>
              <a:t>Experiments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Setup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3E89BD2E-61FC-45EF-8C70-9F50FC255A10}"/>
              </a:ext>
            </a:extLst>
          </p:cNvPr>
          <p:cNvSpPr>
            <a:spLocks noGrp="1"/>
          </p:cNvSpPr>
          <p:nvPr/>
        </p:nvSpPr>
        <p:spPr>
          <a:xfrm>
            <a:off x="431165" y="1168586"/>
            <a:ext cx="11467747" cy="5147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0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700"/>
              </a:lnSpc>
              <a:buSzPct val="40000"/>
              <a:buFont typeface="Wingdings" pitchFamily="2" charset="2"/>
              <a:buChar char="l"/>
            </a:pPr>
            <a:r>
              <a:rPr lang="en-US" altLang="zh-CN" sz="2200" b="1" dirty="0">
                <a:latin typeface="Quattrocento Sans" panose="020B0502050000020003" pitchFamily="34" charset="0"/>
              </a:rPr>
              <a:t>Motivation</a:t>
            </a:r>
            <a:r>
              <a:rPr lang="zh-CN" altLang="en-US" sz="2200" b="1" dirty="0">
                <a:latin typeface="Quattrocento Sans" panose="020B0502050000020003" pitchFamily="34" charset="0"/>
              </a:rPr>
              <a:t>： </a:t>
            </a:r>
            <a:r>
              <a:rPr lang="en-US" altLang="zh-CN" sz="2000" dirty="0">
                <a:latin typeface="Quattrocento Sans" panose="020B0502050000020003" pitchFamily="34" charset="0"/>
              </a:rPr>
              <a:t>Graph classification often suffers from </a:t>
            </a:r>
            <a:r>
              <a:rPr lang="en-US" altLang="zh-CN" sz="2000" b="1" dirty="0">
                <a:latin typeface="Quattrocento Sans" panose="020B0502050000020003" pitchFamily="34" charset="0"/>
              </a:rPr>
              <a:t>small graphs; </a:t>
            </a:r>
            <a:r>
              <a:rPr lang="en-US" altLang="zh-CN" sz="2000" dirty="0">
                <a:latin typeface="Quattrocento Sans" panose="020B0502050000020003" pitchFamily="34" charset="0"/>
              </a:rPr>
              <a:t>Graphon-based augmentation (G-</a:t>
            </a:r>
            <a:r>
              <a:rPr lang="en-US" altLang="zh-CN" sz="2000" dirty="0" err="1">
                <a:latin typeface="Quattrocento Sans" panose="020B0502050000020003" pitchFamily="34" charset="0"/>
              </a:rPr>
              <a:t>Mixup</a:t>
            </a:r>
            <a:r>
              <a:rPr lang="en-US" altLang="zh-CN" sz="2000" dirty="0">
                <a:latin typeface="Quattrocento Sans" panose="020B0502050000020003" pitchFamily="34" charset="0"/>
              </a:rPr>
              <a:t>) relies on accurate probability estimation → conventional estimators fail on small graphs.</a:t>
            </a:r>
          </a:p>
          <a:p>
            <a:pPr>
              <a:lnSpc>
                <a:spcPts val="2700"/>
              </a:lnSpc>
              <a:buSzPct val="40000"/>
              <a:buFont typeface="Wingdings" pitchFamily="2" charset="2"/>
              <a:buChar char="l"/>
            </a:pPr>
            <a:r>
              <a:rPr lang="en-US" altLang="zh-CN" sz="2200" b="1" dirty="0">
                <a:latin typeface="Quattrocento Sans" panose="020B0502050000020003" pitchFamily="34" charset="0"/>
              </a:rPr>
              <a:t>Datasets</a:t>
            </a:r>
            <a:endParaRPr lang="en-US" altLang="zh-CN" sz="2200" dirty="0">
              <a:latin typeface="Quattrocento Sans" panose="020B0502050000020003" pitchFamily="34" charset="0"/>
            </a:endParaRPr>
          </a:p>
          <a:p>
            <a:pPr lvl="1">
              <a:lnSpc>
                <a:spcPts val="2700"/>
              </a:lnSpc>
              <a:buSzPct val="40000"/>
              <a:buFont typeface="Wingdings" pitchFamily="2" charset="2"/>
              <a:buChar char="l"/>
            </a:pPr>
            <a:r>
              <a:rPr lang="en-US" altLang="zh-CN" sz="2000" b="1" dirty="0">
                <a:latin typeface="Quattrocento Sans" panose="020B0502050000020003" pitchFamily="34" charset="0"/>
              </a:rPr>
              <a:t>Targets</a:t>
            </a:r>
            <a:r>
              <a:rPr lang="en-US" altLang="zh-CN" sz="2000" dirty="0">
                <a:latin typeface="Quattrocento Sans" panose="020B0502050000020003" pitchFamily="34" charset="0"/>
              </a:rPr>
              <a:t>: IMDB-Binary, IMDB-Multi, PROTEINS-Full (all small graphs)</a:t>
            </a:r>
          </a:p>
          <a:p>
            <a:pPr lvl="1">
              <a:lnSpc>
                <a:spcPts val="2700"/>
              </a:lnSpc>
              <a:buSzPct val="40000"/>
              <a:buFont typeface="Wingdings" pitchFamily="2" charset="2"/>
              <a:buChar char="l"/>
            </a:pPr>
            <a:r>
              <a:rPr lang="en-US" altLang="zh-CN" sz="2000" b="1" dirty="0">
                <a:latin typeface="Quattrocento Sans" panose="020B0502050000020003" pitchFamily="34" charset="0"/>
              </a:rPr>
              <a:t>Sources</a:t>
            </a:r>
            <a:r>
              <a:rPr lang="en-US" altLang="zh-CN" sz="2000" dirty="0">
                <a:latin typeface="Quattrocento Sans" panose="020B0502050000020003" pitchFamily="34" charset="0"/>
              </a:rPr>
              <a:t>: COLLAB (74 nodes), Reddit-Binary (429 nodes), D&amp;D (284 nodes)</a:t>
            </a:r>
          </a:p>
          <a:p>
            <a:pPr>
              <a:lnSpc>
                <a:spcPts val="2700"/>
              </a:lnSpc>
              <a:buSzPct val="40000"/>
              <a:buFont typeface="Wingdings" pitchFamily="2" charset="2"/>
              <a:buChar char="l"/>
            </a:pPr>
            <a:r>
              <a:rPr lang="en-US" altLang="zh-CN" sz="2200" b="1" dirty="0">
                <a:latin typeface="Quattrocento Sans" panose="020B0502050000020003" pitchFamily="34" charset="0"/>
              </a:rPr>
              <a:t>Baselines: </a:t>
            </a:r>
          </a:p>
          <a:p>
            <a:pPr lvl="1">
              <a:lnSpc>
                <a:spcPts val="2700"/>
              </a:lnSpc>
              <a:buSzPct val="40000"/>
              <a:buFont typeface="Wingdings" pitchFamily="2" charset="2"/>
              <a:buChar char="l"/>
            </a:pPr>
            <a:r>
              <a:rPr lang="en-US" altLang="zh-CN" sz="2000" b="1" dirty="0">
                <a:latin typeface="Quattrocento Sans" panose="020B0502050000020003" pitchFamily="34" charset="0"/>
              </a:rPr>
              <a:t>Non-Transfer baselines</a:t>
            </a:r>
            <a:r>
              <a:rPr lang="en-US" altLang="zh-CN" sz="2000" dirty="0">
                <a:latin typeface="Quattrocento Sans" panose="020B0502050000020003" pitchFamily="34" charset="0"/>
              </a:rPr>
              <a:t>: NS</a:t>
            </a:r>
            <a:r>
              <a:rPr lang="en-GB" altLang="zh-CN" sz="2000" baseline="30000" dirty="0">
                <a:latin typeface="Quattrocento Sans" panose="020B0502050000020003" pitchFamily="34" charset="0"/>
              </a:rPr>
              <a:t>[1]</a:t>
            </a:r>
            <a:r>
              <a:rPr lang="en-GB" altLang="zh-CN" sz="2000" dirty="0">
                <a:latin typeface="Quattrocento Sans" panose="020B0502050000020003" pitchFamily="34" charset="0"/>
              </a:rPr>
              <a:t>, </a:t>
            </a:r>
            <a:r>
              <a:rPr lang="en-US" altLang="zh-CN" sz="2000" dirty="0">
                <a:latin typeface="Quattrocento Sans" panose="020B0502050000020003" pitchFamily="34" charset="0"/>
              </a:rPr>
              <a:t>SAS</a:t>
            </a:r>
            <a:r>
              <a:rPr lang="en-GB" altLang="zh-CN" sz="2000" baseline="30000" dirty="0">
                <a:latin typeface="Quattrocento Sans" panose="020B0502050000020003" pitchFamily="34" charset="0"/>
              </a:rPr>
              <a:t>[2]</a:t>
            </a:r>
            <a:r>
              <a:rPr lang="en-GB" altLang="zh-CN" sz="2000" dirty="0">
                <a:latin typeface="Quattrocento Sans" panose="020B0502050000020003" pitchFamily="34" charset="0"/>
              </a:rPr>
              <a:t>, </a:t>
            </a:r>
            <a:r>
              <a:rPr lang="en-US" altLang="zh-CN" sz="2000" dirty="0">
                <a:latin typeface="Quattrocento Sans" panose="020B0502050000020003" pitchFamily="34" charset="0"/>
              </a:rPr>
              <a:t>ICE</a:t>
            </a:r>
            <a:r>
              <a:rPr lang="en-GB" altLang="zh-CN" sz="2000" baseline="30000" dirty="0">
                <a:latin typeface="Quattrocento Sans" panose="020B0502050000020003" pitchFamily="34" charset="0"/>
              </a:rPr>
              <a:t>[3]</a:t>
            </a:r>
            <a:r>
              <a:rPr lang="en-US" altLang="zh-CN" sz="2000" dirty="0">
                <a:latin typeface="Quattrocento Sans" panose="020B0502050000020003" pitchFamily="34" charset="0"/>
              </a:rPr>
              <a:t>, USVT</a:t>
            </a:r>
            <a:r>
              <a:rPr lang="en-GB" altLang="zh-CN" sz="2000" baseline="30000" dirty="0">
                <a:latin typeface="Quattrocento Sans" panose="020B0502050000020003" pitchFamily="34" charset="0"/>
              </a:rPr>
              <a:t>[4]</a:t>
            </a:r>
            <a:r>
              <a:rPr lang="en-US" altLang="zh-CN" sz="2000" dirty="0">
                <a:latin typeface="Quattrocento Sans" panose="020B0502050000020003" pitchFamily="34" charset="0"/>
              </a:rPr>
              <a:t>, GWB</a:t>
            </a:r>
            <a:r>
              <a:rPr lang="en-GB" altLang="zh-CN" sz="2000" baseline="30000" dirty="0">
                <a:latin typeface="Quattrocento Sans" panose="020B0502050000020003" pitchFamily="34" charset="0"/>
              </a:rPr>
              <a:t> [5]</a:t>
            </a:r>
            <a:r>
              <a:rPr lang="en-US" altLang="zh-CN" sz="2000" dirty="0">
                <a:latin typeface="Quattrocento Sans" panose="020B0502050000020003" pitchFamily="34" charset="0"/>
              </a:rPr>
              <a:t>, IGNR</a:t>
            </a:r>
            <a:r>
              <a:rPr lang="en-GB" altLang="zh-CN" sz="2000" baseline="30000" dirty="0">
                <a:latin typeface="Quattrocento Sans" panose="020B0502050000020003" pitchFamily="34" charset="0"/>
              </a:rPr>
              <a:t> [6]</a:t>
            </a:r>
            <a:r>
              <a:rPr lang="en-US" altLang="zh-CN" sz="2000" dirty="0">
                <a:latin typeface="Quattrocento Sans" panose="020B0502050000020003" pitchFamily="34" charset="0"/>
              </a:rPr>
              <a:t>, SIGL</a:t>
            </a:r>
            <a:r>
              <a:rPr lang="en-GB" altLang="zh-CN" sz="2000" baseline="30000" dirty="0">
                <a:latin typeface="Quattrocento Sans" panose="020B0502050000020003" pitchFamily="34" charset="0"/>
              </a:rPr>
              <a:t> [7]</a:t>
            </a:r>
            <a:r>
              <a:rPr lang="en-US" altLang="zh-CN" sz="2000" dirty="0">
                <a:latin typeface="Quattrocento Sans" panose="020B0502050000020003" pitchFamily="34" charset="0"/>
              </a:rPr>
              <a:t>, Graphlet Kernel</a:t>
            </a:r>
            <a:r>
              <a:rPr lang="en-GB" altLang="zh-CN" sz="2000" baseline="30000" dirty="0">
                <a:latin typeface="Quattrocento Sans" panose="020B0502050000020003" pitchFamily="34" charset="0"/>
              </a:rPr>
              <a:t> [8]</a:t>
            </a:r>
            <a:endParaRPr lang="en-US" altLang="zh-CN" sz="2000" dirty="0">
              <a:latin typeface="Quattrocento Sans" panose="020B0502050000020003" pitchFamily="34" charset="0"/>
            </a:endParaRPr>
          </a:p>
          <a:p>
            <a:pPr>
              <a:lnSpc>
                <a:spcPts val="2700"/>
              </a:lnSpc>
              <a:buSzPct val="40000"/>
              <a:buFont typeface="Wingdings" pitchFamily="2" charset="2"/>
              <a:buChar char="l"/>
            </a:pPr>
            <a:r>
              <a:rPr lang="en-GB" altLang="zh-CN" sz="2200" b="1" dirty="0">
                <a:latin typeface="Quattrocento Sans" panose="020B0502050000020003" pitchFamily="34" charset="0"/>
              </a:rPr>
              <a:t>Evaluation Metrics</a:t>
            </a:r>
            <a:r>
              <a:rPr lang="en-US" altLang="zh-CN" sz="2200" b="1" dirty="0">
                <a:latin typeface="Quattrocento Sans" panose="020B0502050000020003" pitchFamily="34" charset="0"/>
              </a:rPr>
              <a:t>: </a:t>
            </a:r>
            <a:r>
              <a:rPr lang="en-US" altLang="zh-CN" sz="2000" dirty="0">
                <a:latin typeface="Quattrocento Sans" panose="020B0502050000020003" pitchFamily="34" charset="0"/>
              </a:rPr>
              <a:t>average test accuracy over 10 runs with standard GCN classifier.</a:t>
            </a:r>
            <a:endParaRPr lang="en-GB" altLang="zh-CN" sz="2200" dirty="0">
              <a:latin typeface="Quattrocento Sans" panose="020B0502050000020003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62F2C6-E6BD-7ABC-8476-D760F77DC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939" y="-27803"/>
            <a:ext cx="1890061" cy="851080"/>
          </a:xfrm>
          <a:prstGeom prst="rect">
            <a:avLst/>
          </a:prstGeom>
        </p:spPr>
      </p:pic>
      <p:pic>
        <p:nvPicPr>
          <p:cNvPr id="6" name="Picture 2" descr="Press">
            <a:extLst>
              <a:ext uri="{FF2B5EF4-FFF2-40B4-BE49-F238E27FC236}">
                <a16:creationId xmlns:a16="http://schemas.microsoft.com/office/drawing/2014/main" id="{33010220-83AF-3922-035A-647DE3AC0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439" y="5993283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13A0C2C-437E-DD1C-74A4-1FC6040ADB4D}"/>
              </a:ext>
            </a:extLst>
          </p:cNvPr>
          <p:cNvSpPr txBox="1"/>
          <p:nvPr/>
        </p:nvSpPr>
        <p:spPr>
          <a:xfrm>
            <a:off x="293088" y="4641917"/>
            <a:ext cx="1000885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[1] Yuan Zhang, Elizaveta Levina, and Ji Zhu. Estimating network edge probabilities by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neighbourhood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smoothing.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Biometrika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104(4):771–783, 2017.591</a:t>
            </a:r>
          </a:p>
          <a:p>
            <a:pPr lvl="0"/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[2] Stanley Chan and Edoardo Airoldi. A consistent histogram estimator for exchangeable graph models. In Eric P. Xing and Tony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Jebara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editors, Proceedings of the 31st International Conference on Machine Learning, volume 32 of Proceedings of Machine Learning Research,448 pages 208–216, 22–24 Jun 2014. PMLR.449</a:t>
            </a:r>
          </a:p>
          <a:p>
            <a:pPr lvl="0"/>
            <a:r>
              <a:rPr lang="en-US" altLang="zh-CN" sz="1100" dirty="0">
                <a:latin typeface="Times New Roman" panose="02020603050405020304" charset="0"/>
                <a:cs typeface="Times New Roman" panose="02020603050405020304" charset="0"/>
              </a:rPr>
              <a:t>[3]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 Yichen Qin,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Linhan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Yu, and Yang Li. Iterative Connecting Probability Estimation for Networks. In Advances in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NeurIPS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volume 34, pages 1155–1166, 2021</a:t>
            </a:r>
          </a:p>
          <a:p>
            <a:pPr lvl="0"/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[4] Sourav Chatterjee. Matrix estimation by Universal Singular Value Thresholding. The Annals of Statistics, 43(1), 2015</a:t>
            </a:r>
          </a:p>
          <a:p>
            <a:pPr lvl="0"/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[5]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Hongteng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Xu,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Dixin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Luo, Lawrence Carin, and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Hongyuan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Zha. Learning graphons via structured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gromov-wasserstein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barycenters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 In Proceedings of the AAAI Conference on Artificial Intelligence, volume 35, pages 10505–10513, 2021.</a:t>
            </a:r>
          </a:p>
          <a:p>
            <a:pPr lvl="0"/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[6] Xinyue Xia, Gal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Mishne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, and Yusu Wang. Implicit graphon neural representation. In International Conference on Artificial Intelligence and Statistics, pages 10619–10634. PMLR, 2023</a:t>
            </a:r>
          </a:p>
          <a:p>
            <a:pPr lvl="0"/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[7] Ali Azizpour, Nicolas Zilberstein, and Santiago Segarra. Scalable implicit graphon learning. </a:t>
            </a:r>
            <a:r>
              <a:rPr lang="en-US" altLang="zh-CN" sz="11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arXiv</a:t>
            </a:r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preprint arXiv:2410.17464, 2024.</a:t>
            </a:r>
          </a:p>
          <a:p>
            <a:pPr lvl="0"/>
            <a:r>
              <a:rPr lang="en-US" altLang="zh-CN" sz="1100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[8] Nino Shervashidze, SVN Vishwanathan, Tobias Petri, Kurt Mehlhorn, and Karsten Borgwardt. Efficient graphlet kernels for large graph comparison. In Artificial intelligence and statistics, pages 488–495. PMLR, 2009</a:t>
            </a:r>
          </a:p>
        </p:txBody>
      </p:sp>
    </p:spTree>
    <p:extLst>
      <p:ext uri="{BB962C8B-B14F-4D97-AF65-F5344CB8AC3E}">
        <p14:creationId xmlns:p14="http://schemas.microsoft.com/office/powerpoint/2010/main" val="241408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8587080C-FA51-7227-10BC-4107696D6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939" y="-27803"/>
            <a:ext cx="1890061" cy="85108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4F62CC6-1174-4425-9C69-60A24586FBDC}"/>
              </a:ext>
            </a:extLst>
          </p:cNvPr>
          <p:cNvSpPr/>
          <p:nvPr/>
        </p:nvSpPr>
        <p:spPr>
          <a:xfrm>
            <a:off x="128993" y="93224"/>
            <a:ext cx="106861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rPr>
              <a:t>Graph Classification</a:t>
            </a:r>
            <a:r>
              <a:rPr lang="en-US" altLang="zh-CN" sz="4000" b="1" dirty="0">
                <a:latin typeface="Quattrocento Sans" panose="020B0502050000020003" pitchFamily="34" charset="0"/>
                <a:ea typeface="微软雅黑" panose="020B0503020204020204" charset="-122"/>
              </a:rPr>
              <a:t>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Results</a:t>
            </a:r>
          </a:p>
        </p:txBody>
      </p:sp>
      <p:graphicFrame>
        <p:nvGraphicFramePr>
          <p:cNvPr id="20" name="Table 2">
            <a:extLst>
              <a:ext uri="{FF2B5EF4-FFF2-40B4-BE49-F238E27FC236}">
                <a16:creationId xmlns:a16="http://schemas.microsoft.com/office/drawing/2014/main" id="{AD681E33-58C9-9816-7CB9-4304494425DF}"/>
              </a:ext>
            </a:extLst>
          </p:cNvPr>
          <p:cNvGraphicFramePr>
            <a:graphicFrameLocks noGrp="1"/>
          </p:cNvGraphicFramePr>
          <p:nvPr/>
        </p:nvGraphicFramePr>
        <p:xfrm>
          <a:off x="266037" y="2394563"/>
          <a:ext cx="11651666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0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29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420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85318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latin typeface="Quattrocento Sans" panose="020B0502050000020003" pitchFamily="34" charset="0"/>
                        </a:rPr>
                        <a:t>GT</a:t>
                      </a:r>
                      <a:r>
                        <a:rPr lang="en-US" sz="1800" dirty="0" err="1">
                          <a:latin typeface="Quattrocento Sans" panose="020B0502050000020003" pitchFamily="34" charset="0"/>
                        </a:rPr>
                        <a:t>rans</a:t>
                      </a:r>
                      <a:r>
                        <a:rPr sz="1800" dirty="0">
                          <a:latin typeface="Quattrocento Sans" panose="020B0502050000020003" pitchFamily="34" charset="0"/>
                        </a:rPr>
                        <a:t>-GW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>
                          <a:latin typeface="Quattrocento Sans" panose="020B0502050000020003" pitchFamily="34" charset="0"/>
                        </a:rPr>
                        <a:t>GT</a:t>
                      </a:r>
                      <a:r>
                        <a:rPr lang="en-US" altLang="zh-CN" sz="1800" dirty="0" err="1">
                          <a:latin typeface="Quattrocento Sans" panose="020B0502050000020003" pitchFamily="34" charset="0"/>
                        </a:rPr>
                        <a:t>rans</a:t>
                      </a:r>
                      <a:r>
                        <a:rPr sz="1800" dirty="0">
                          <a:latin typeface="Quattrocento Sans" panose="020B0502050000020003" pitchFamily="34" charset="0"/>
                        </a:rPr>
                        <a:t>-EGW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USVT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GWB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IGNR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SIGL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Graphlet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467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Reddit-B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IMDB-B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76.30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76.80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75.30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61.10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467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COLLAB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IMDB-B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75.30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74.35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61.10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467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Reddit-B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IMDB-M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49.10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51.27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43.80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47.70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49.13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39.37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467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COLLAB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IMDB-M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50.47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50.23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43.80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48.00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43.90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47.70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49.13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39.37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467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D&amp;D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PROTEINS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69.33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68.52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63.18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65.11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65.25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65.38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63.45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65.87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Quattrocento Sans" panose="020B0502050000020003" pitchFamily="34" charset="0"/>
                        </a:rPr>
                        <a:t>67.13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latin typeface="Quattrocento Sans" panose="020B0502050000020003" pitchFamily="34" charset="0"/>
                        </a:rPr>
                        <a:t>70.11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3005CDCD-A743-6FE3-5242-096EEF1C59C2}"/>
              </a:ext>
            </a:extLst>
          </p:cNvPr>
          <p:cNvSpPr txBox="1"/>
          <p:nvPr/>
        </p:nvSpPr>
        <p:spPr>
          <a:xfrm>
            <a:off x="2226589" y="1852920"/>
            <a:ext cx="99654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Quattrocento Sans" panose="020B0502050000020003" pitchFamily="34" charset="0"/>
              </a:rPr>
              <a:t>Graph classification accuracy (%) compared against </a:t>
            </a:r>
            <a:r>
              <a:rPr lang="zh-CN" altLang="en-US" sz="2200" dirty="0">
                <a:latin typeface="Quattrocento Sans" panose="020B0502050000020003" pitchFamily="34" charset="0"/>
              </a:rPr>
              <a:t> </a:t>
            </a:r>
            <a:r>
              <a:rPr lang="en-US" altLang="zh-CN" sz="2200" dirty="0">
                <a:latin typeface="Quattrocento Sans" panose="020B0502050000020003" pitchFamily="34" charset="0"/>
              </a:rPr>
              <a:t>baselines</a:t>
            </a:r>
            <a:endParaRPr lang="zh-CN" altLang="en-US" sz="2200" dirty="0">
              <a:latin typeface="Quattrocento Sans" panose="020B0502050000020003" pitchFamily="34" charset="0"/>
            </a:endParaRPr>
          </a:p>
        </p:txBody>
      </p:sp>
      <p:pic>
        <p:nvPicPr>
          <p:cNvPr id="23" name="Picture 2" descr="Press">
            <a:extLst>
              <a:ext uri="{FF2B5EF4-FFF2-40B4-BE49-F238E27FC236}">
                <a16:creationId xmlns:a16="http://schemas.microsoft.com/office/drawing/2014/main" id="{3528EB26-931A-1DCE-CD24-070BD5FA5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39" y="-49908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0404CE3-4FA7-F5CE-2EF1-E31E2E36B71D}"/>
              </a:ext>
            </a:extLst>
          </p:cNvPr>
          <p:cNvSpPr txBox="1"/>
          <p:nvPr/>
        </p:nvSpPr>
        <p:spPr>
          <a:xfrm>
            <a:off x="539699" y="5189642"/>
            <a:ext cx="11651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000" b="1" dirty="0" err="1">
                <a:latin typeface="Quattrocento Sans" panose="020B0502050000020003" pitchFamily="34" charset="0"/>
              </a:rPr>
              <a:t>GTrans</a:t>
            </a:r>
            <a:r>
              <a:rPr lang="en-US" altLang="zh-CN" sz="2000" b="1" dirty="0">
                <a:latin typeface="Quattrocento Sans" panose="020B0502050000020003" pitchFamily="34" charset="0"/>
              </a:rPr>
              <a:t>-GW</a:t>
            </a:r>
            <a:r>
              <a:rPr lang="en-US" altLang="zh-CN" sz="2000" dirty="0">
                <a:latin typeface="Quattrocento Sans" panose="020B0502050000020003" pitchFamily="34" charset="0"/>
              </a:rPr>
              <a:t> and </a:t>
            </a:r>
            <a:r>
              <a:rPr lang="en-US" altLang="zh-CN" sz="2000" b="1" dirty="0" err="1">
                <a:latin typeface="Quattrocento Sans" panose="020B0502050000020003" pitchFamily="34" charset="0"/>
              </a:rPr>
              <a:t>GTrans</a:t>
            </a:r>
            <a:r>
              <a:rPr lang="en-US" altLang="zh-CN" sz="2000" b="1" dirty="0">
                <a:latin typeface="Quattrocento Sans" panose="020B0502050000020003" pitchFamily="34" charset="0"/>
              </a:rPr>
              <a:t>-EGW</a:t>
            </a:r>
            <a:r>
              <a:rPr lang="en-US" altLang="zh-CN" sz="2000" dirty="0">
                <a:latin typeface="Quattrocento Sans" panose="020B0502050000020003" pitchFamily="34" charset="0"/>
              </a:rPr>
              <a:t>, consistently achieves the best or comparable performance in most cases. </a:t>
            </a:r>
            <a:endParaRPr lang="en-US" altLang="zh-CN" sz="2000" dirty="0">
              <a:latin typeface="Quattrocento Sans" panose="020B0502050000020003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0F42-055B-8F80-5027-FF7CD5F6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9B688C5A-F671-20DF-7239-B81FBCBD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22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2C8D60-848D-8321-BCC8-20E3398AAB9C}"/>
              </a:ext>
            </a:extLst>
          </p:cNvPr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899FD78-8A59-AA68-B19E-C0DD685F0D8A}"/>
              </a:ext>
            </a:extLst>
          </p:cNvPr>
          <p:cNvSpPr/>
          <p:nvPr/>
        </p:nvSpPr>
        <p:spPr>
          <a:xfrm>
            <a:off x="315" y="80690"/>
            <a:ext cx="2290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Outline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C7E754F-07BC-D9BF-FF5A-7D475B92A1A4}"/>
              </a:ext>
            </a:extLst>
          </p:cNvPr>
          <p:cNvGrpSpPr/>
          <p:nvPr/>
        </p:nvGrpSpPr>
        <p:grpSpPr>
          <a:xfrm>
            <a:off x="445952" y="1411805"/>
            <a:ext cx="5106035" cy="5135188"/>
            <a:chOff x="848" y="2436"/>
            <a:chExt cx="8041" cy="8887"/>
          </a:xfrm>
        </p:grpSpPr>
        <p:sp>
          <p:nvSpPr>
            <p:cNvPr id="12" name="矩形: 圆角 1">
              <a:extLst>
                <a:ext uri="{FF2B5EF4-FFF2-40B4-BE49-F238E27FC236}">
                  <a16:creationId xmlns:a16="http://schemas.microsoft.com/office/drawing/2014/main" id="{F24898D7-11BA-DB2A-4252-3B2080F13F5C}"/>
                </a:ext>
              </a:extLst>
            </p:cNvPr>
            <p:cNvSpPr/>
            <p:nvPr/>
          </p:nvSpPr>
          <p:spPr>
            <a:xfrm>
              <a:off x="848" y="5383"/>
              <a:ext cx="5315" cy="1088"/>
            </a:xfrm>
            <a:prstGeom prst="roundRect">
              <a:avLst/>
            </a:prstGeom>
            <a:solidFill>
              <a:srgbClr val="E6D8E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内容占位符 2">
              <a:extLst>
                <a:ext uri="{FF2B5EF4-FFF2-40B4-BE49-F238E27FC236}">
                  <a16:creationId xmlns:a16="http://schemas.microsoft.com/office/drawing/2014/main" id="{B99796F8-6C15-0AFE-4AC0-C68141B8447D}"/>
                </a:ext>
              </a:extLst>
            </p:cNvPr>
            <p:cNvSpPr txBox="1"/>
            <p:nvPr/>
          </p:nvSpPr>
          <p:spPr>
            <a:xfrm>
              <a:off x="848" y="2436"/>
              <a:ext cx="8041" cy="8887"/>
            </a:xfrm>
            <a:prstGeom prst="rect">
              <a:avLst/>
            </a:prstGeom>
          </p:spPr>
          <p:txBody>
            <a:bodyPr vert="horz" lIns="68580" tIns="34290" rIns="68580" bIns="3429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lang="en-US" altLang="zh-CN" sz="30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Introduction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Method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kumimoji="0" lang="en-US" altLang="zh-CN" sz="3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Experiments</a:t>
              </a:r>
            </a:p>
            <a:p>
              <a:pPr marL="742950" marR="0" lvl="0" indent="-74295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AutoNum type="arabicPeriod"/>
                <a:defRPr/>
              </a:pPr>
              <a:r>
                <a:rPr lang="en-US" altLang="zh-CN" sz="3000" b="1" dirty="0">
                  <a:latin typeface="Quattrocento Sans" panose="020B0502050000020003" pitchFamily="34" charset="0"/>
                  <a:ea typeface="微软雅黑" panose="020B0503020204020204" charset="-122"/>
                  <a:cs typeface="Times New Roman" panose="02020603050405020304" pitchFamily="18" charset="0"/>
                </a:rPr>
                <a:t>Conclusion</a:t>
              </a: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AE254A3-77AC-AC9A-2870-DD8EA3203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6" name="Picture 2" descr="Press">
            <a:extLst>
              <a:ext uri="{FF2B5EF4-FFF2-40B4-BE49-F238E27FC236}">
                <a16:creationId xmlns:a16="http://schemas.microsoft.com/office/drawing/2014/main" id="{07DBD861-CEA8-6999-FF5B-8D3079AB9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81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092055" y="6546993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4BCB0-A080-4E30-BA82-9ECF28F75699}" type="slidenum"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23</a:t>
            </a:fld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-7620" y="811530"/>
            <a:ext cx="12198985" cy="23495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47973" y="91677"/>
            <a:ext cx="495935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Quattrocento Sans" panose="020B0502050000020003" pitchFamily="34" charset="0"/>
                <a:ea typeface="微软雅黑" panose="020B0503020204020204" charset="-122"/>
              </a:rPr>
              <a:t>Conclusion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DF5D93-F7ED-512E-8DF1-1D8126069E36}"/>
              </a:ext>
            </a:extLst>
          </p:cNvPr>
          <p:cNvSpPr txBox="1"/>
          <p:nvPr/>
        </p:nvSpPr>
        <p:spPr>
          <a:xfrm>
            <a:off x="445577" y="1220355"/>
            <a:ext cx="1142612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200" b="1" dirty="0">
                <a:latin typeface="Quattrocento Sans" panose="020B0502050000020003" pitchFamily="34" charset="0"/>
                <a:cs typeface="Times New Roman" panose="02020603050405020304" charset="0"/>
              </a:rPr>
              <a:t>Understanding Gap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charset="0"/>
              </a:rPr>
              <a:t>Graphon estimation is unreliable on small, sparse networks.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charset="0"/>
              </a:rPr>
              <a:t>Existing transfer methods assume known node correspondences, which is unrealistic.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charset="0"/>
              </a:rPr>
              <a:t>Gap: transfer information without correspondences, while avoiding negative transfer.</a:t>
            </a:r>
            <a:endParaRPr lang="en-US" altLang="zh-CN" sz="2200" dirty="0">
              <a:latin typeface="Quattrocento Sans" panose="020B0502050000020003" pitchFamily="3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US" altLang="zh-CN" sz="2200" dirty="0">
              <a:latin typeface="Quattrocento Sans" panose="020B0502050000020003" pitchFamily="34" charset="0"/>
              <a:cs typeface="Times New Roman" panose="0202060305040502030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zh-CN" sz="2200" b="1" dirty="0">
                <a:latin typeface="Quattrocento Sans" panose="020B0502050000020003" pitchFamily="34" charset="0"/>
                <a:cs typeface="Times New Roman" panose="02020603050405020304" charset="0"/>
              </a:rPr>
              <a:t>GTRANS Framework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charset="0"/>
              </a:rPr>
              <a:t>Proposed GTRANS, with three core steps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charset="0"/>
              </a:rPr>
              <a:t>First framework enabling robust, correspondence-free graphon transfer.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altLang="zh-CN" sz="2200" dirty="0">
              <a:latin typeface="Quattrocento Sans" panose="020B0502050000020003" pitchFamily="34" charset="0"/>
              <a:cs typeface="Times New Roman" panose="0202060305040502030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zh-CN" sz="2200" b="1" dirty="0">
                <a:latin typeface="Quattrocento Sans" panose="020B0502050000020003" pitchFamily="34" charset="0"/>
              </a:rPr>
              <a:t>Theory</a:t>
            </a:r>
            <a:r>
              <a:rPr lang="en-US" altLang="zh-CN" sz="2200" dirty="0">
                <a:latin typeface="Quattrocento Sans" panose="020B0502050000020003" pitchFamily="34" charset="0"/>
              </a:rPr>
              <a:t>: consistency guarantees for alignment via smoothed estimators.</a:t>
            </a:r>
            <a:endParaRPr lang="en-US" altLang="zh-CN" sz="2200" dirty="0">
              <a:latin typeface="Quattrocento Sans" panose="020B0502050000020003" pitchFamily="34" charset="0"/>
              <a:cs typeface="Times New Roman" panose="02020603050405020304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US" altLang="zh-CN" sz="2200" b="1" dirty="0">
              <a:latin typeface="Quattrocento Sans" panose="020B0502050000020003" pitchFamily="34" charset="0"/>
              <a:cs typeface="Times New Roman" panose="0202060305040502030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zh-CN" sz="2200" b="1" dirty="0">
                <a:latin typeface="Quattrocento Sans" panose="020B0502050000020003" pitchFamily="34" charset="0"/>
                <a:cs typeface="Times New Roman" panose="02020603050405020304" charset="0"/>
              </a:rPr>
              <a:t>Experiments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charset="0"/>
              </a:rPr>
              <a:t>Synthetic: outperforms baselines, robust to domain shifts.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Quattrocento Sans" panose="020B0502050000020003" pitchFamily="34" charset="0"/>
                <a:cs typeface="Times New Roman" panose="02020603050405020304" charset="0"/>
              </a:rPr>
              <a:t>Real networks: Outperforms baselines in link prediction and graph classification.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6234D6-93F2-C126-13B2-F598C3CCC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356" y="-16055"/>
            <a:ext cx="1890061" cy="851080"/>
          </a:xfrm>
          <a:prstGeom prst="rect">
            <a:avLst/>
          </a:prstGeom>
        </p:spPr>
      </p:pic>
      <p:pic>
        <p:nvPicPr>
          <p:cNvPr id="7" name="Picture 2" descr="Press">
            <a:extLst>
              <a:ext uri="{FF2B5EF4-FFF2-40B4-BE49-F238E27FC236}">
                <a16:creationId xmlns:a16="http://schemas.microsoft.com/office/drawing/2014/main" id="{B905A352-8465-8B98-13D6-EA8B0E68C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904" y="-60026"/>
            <a:ext cx="2057400" cy="92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8"/>
    </mc:Choice>
    <mc:Fallback xmlns="">
      <p:transition spd="slow" advTm="3078"/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2403</Words>
  <Application>Microsoft Macintosh PowerPoint</Application>
  <PresentationFormat>宽屏</PresentationFormat>
  <Paragraphs>466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等线</vt:lpstr>
      <vt:lpstr>微软雅黑</vt:lpstr>
      <vt:lpstr>Arial</vt:lpstr>
      <vt:lpstr>Calibri</vt:lpstr>
      <vt:lpstr>Cambria Math</vt:lpstr>
      <vt:lpstr>Quattrocento Sans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changle_qu</dc:creator>
  <cp:lastModifiedBy>Y46369</cp:lastModifiedBy>
  <cp:revision>445</cp:revision>
  <dcterms:created xsi:type="dcterms:W3CDTF">2023-08-09T12:44:00Z</dcterms:created>
  <dcterms:modified xsi:type="dcterms:W3CDTF">2025-11-04T15:48:36Z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2052-12.1.0.22529</vt:lpwstr>
  </property>
</Properties>
</file>